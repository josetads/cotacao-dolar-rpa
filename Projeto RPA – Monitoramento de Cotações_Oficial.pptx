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Microsoft Yahei" panose="020B0503020204020204" pitchFamily="34" charset="-122"/>
      <p:regular r:id="rId15"/>
      <p:bold r:id="rId16"/>
    </p:embeddedFont>
    <p:embeddedFont>
      <p:font typeface="Hedvig Letters Sans" panose="020B0604020202020204" charset="0"/>
      <p:regular r:id="rId17"/>
    </p:embeddedFont>
    <p:embeddedFont>
      <p:font typeface="Quattrocento Sans" panose="020B0604020202020204" charset="0"/>
      <p:regular r:id="rId18"/>
      <p:bold r:id="rId19"/>
      <p:italic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Liter" panose="020B060402020202020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E14374-11BD-4E62-830A-A27C3D0EEA9E}">
  <a:tblStyle styleId="{C2E14374-11BD-4E62-830A-A27C3D0EEA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‹nº›</a:t>
            </a:fld>
            <a:endParaRPr sz="1200" b="0" i="0" u="none" strike="noStrike" cap="none"/>
          </a:p>
        </p:txBody>
      </p:sp>
    </p:spTree>
    <p:extLst>
      <p:ext uri="{BB962C8B-B14F-4D97-AF65-F5344CB8AC3E}">
        <p14:creationId xmlns:p14="http://schemas.microsoft.com/office/powerpoint/2010/main" val="5784181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3515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6721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3918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1926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4090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0067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0725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164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431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8338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700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6" name="Google Shape;40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1228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PTIST_MASTER">
  <p:cSld name="PPTIST_MASTER"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descr="https://kimi-web-img.moonshot.cn/img/thumbs.dreamstime.com/28b23bab51074c61d575358d6efb8a937c2af18b.jpg"/>
          <p:cNvPicPr preferRelativeResize="0"/>
          <p:nvPr/>
        </p:nvPicPr>
        <p:blipFill rotWithShape="1">
          <a:blip r:embed="rId3">
            <a:alphaModFix amt="40000"/>
          </a:blip>
          <a:srcRect l="8333" r="833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A50034">
                  <a:alpha val="80000"/>
                </a:srgbClr>
              </a:gs>
              <a:gs pos="50000">
                <a:srgbClr val="1A1A1A">
                  <a:alpha val="90196"/>
                </a:srgbClr>
              </a:gs>
              <a:gs pos="100000">
                <a:srgbClr val="1A1A1A"/>
              </a:gs>
            </a:gsLst>
            <a:lin ang="2700000" scaled="0"/>
          </a:gradFill>
          <a:ln>
            <a:noFill/>
          </a:ln>
        </p:spPr>
      </p:sp>
      <p:sp>
        <p:nvSpPr>
          <p:cNvPr id="19" name="Google Shape;19;p4"/>
          <p:cNvSpPr/>
          <p:nvPr/>
        </p:nvSpPr>
        <p:spPr>
          <a:xfrm>
            <a:off x="381000" y="4762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 extrusionOk="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20" name="Google Shape;20;p4"/>
          <p:cNvSpPr/>
          <p:nvPr/>
        </p:nvSpPr>
        <p:spPr>
          <a:xfrm>
            <a:off x="1104900" y="381000"/>
            <a:ext cx="3648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0E0"/>
                </a:solidFill>
                <a:latin typeface="Liter"/>
                <a:ea typeface="Liter"/>
                <a:cs typeface="Liter"/>
                <a:sym typeface="Liter"/>
              </a:rPr>
              <a:t>AX Academy · Digital Transformation</a:t>
            </a:r>
            <a:endParaRPr sz="1600" b="0" i="0" u="none" strike="noStrike" cap="none"/>
          </a:p>
        </p:txBody>
      </p:sp>
      <p:sp>
        <p:nvSpPr>
          <p:cNvPr id="21" name="Google Shape;21;p4"/>
          <p:cNvSpPr/>
          <p:nvPr/>
        </p:nvSpPr>
        <p:spPr>
          <a:xfrm>
            <a:off x="381000" y="1376363"/>
            <a:ext cx="11772900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Projeto RPA</a:t>
            </a:r>
            <a:endParaRPr sz="16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A5003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Monitoramento</a:t>
            </a:r>
            <a:endParaRPr sz="16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de Cotações</a:t>
            </a:r>
            <a:endParaRPr sz="1600" b="0" i="0" u="none" strike="noStrike" cap="none"/>
          </a:p>
        </p:txBody>
      </p:sp>
      <p:sp>
        <p:nvSpPr>
          <p:cNvPr id="22" name="Google Shape;22;p4"/>
          <p:cNvSpPr/>
          <p:nvPr/>
        </p:nvSpPr>
        <p:spPr>
          <a:xfrm>
            <a:off x="381000" y="4176712"/>
            <a:ext cx="64960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Automação em Python para coletar e registrar cotações de moedas (Dólar, Euro e Real) em Excel</a:t>
            </a:r>
            <a:endParaRPr sz="1600" b="0" i="0" u="none" strike="noStrike" cap="none"/>
          </a:p>
        </p:txBody>
      </p:sp>
      <p:sp>
        <p:nvSpPr>
          <p:cNvPr id="23" name="Google Shape;23;p4"/>
          <p:cNvSpPr/>
          <p:nvPr/>
        </p:nvSpPr>
        <p:spPr>
          <a:xfrm>
            <a:off x="381000" y="5138738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 extrusionOk="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647700" y="5100638"/>
            <a:ext cx="11525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RPA Automation</a:t>
            </a:r>
            <a:endParaRPr sz="1600" b="0" i="0" u="none" strike="noStrike" cap="none"/>
          </a:p>
        </p:txBody>
      </p:sp>
      <p:sp>
        <p:nvSpPr>
          <p:cNvPr id="25" name="Google Shape;25;p4"/>
          <p:cNvSpPr/>
          <p:nvPr/>
        </p:nvSpPr>
        <p:spPr>
          <a:xfrm>
            <a:off x="1963837" y="513873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extrusionOk="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221012" y="5100638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Python</a:t>
            </a:r>
            <a:endParaRPr sz="1600" b="0" i="0" u="none" strike="noStrike" cap="none"/>
          </a:p>
        </p:txBody>
      </p:sp>
      <p:sp>
        <p:nvSpPr>
          <p:cNvPr id="27" name="Google Shape;27;p4"/>
          <p:cNvSpPr/>
          <p:nvPr/>
        </p:nvSpPr>
        <p:spPr>
          <a:xfrm>
            <a:off x="2946797" y="513873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 extrusionOk="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8816" y="79385"/>
                </a:moveTo>
                <a:cubicBezTo>
                  <a:pt x="46613" y="76111"/>
                  <a:pt x="42178" y="75218"/>
                  <a:pt x="38904" y="77391"/>
                </a:cubicBezTo>
                <a:cubicBezTo>
                  <a:pt x="35629" y="79564"/>
                  <a:pt x="34736" y="84028"/>
                  <a:pt x="36909" y="87303"/>
                </a:cubicBezTo>
                <a:lnTo>
                  <a:pt x="48578" y="104775"/>
                </a:lnTo>
                <a:lnTo>
                  <a:pt x="36909" y="122247"/>
                </a:lnTo>
                <a:cubicBezTo>
                  <a:pt x="34707" y="125522"/>
                  <a:pt x="35600" y="129957"/>
                  <a:pt x="38904" y="132159"/>
                </a:cubicBezTo>
                <a:cubicBezTo>
                  <a:pt x="42208" y="134362"/>
                  <a:pt x="46613" y="133469"/>
                  <a:pt x="48816" y="130165"/>
                </a:cubicBezTo>
                <a:lnTo>
                  <a:pt x="57150" y="117664"/>
                </a:lnTo>
                <a:lnTo>
                  <a:pt x="65484" y="130165"/>
                </a:lnTo>
                <a:cubicBezTo>
                  <a:pt x="67687" y="133439"/>
                  <a:pt x="72122" y="134332"/>
                  <a:pt x="75396" y="132159"/>
                </a:cubicBezTo>
                <a:cubicBezTo>
                  <a:pt x="78671" y="129986"/>
                  <a:pt x="79564" y="125522"/>
                  <a:pt x="77391" y="122247"/>
                </a:cubicBezTo>
                <a:lnTo>
                  <a:pt x="65723" y="104775"/>
                </a:lnTo>
                <a:lnTo>
                  <a:pt x="77391" y="87303"/>
                </a:lnTo>
                <a:cubicBezTo>
                  <a:pt x="79593" y="84028"/>
                  <a:pt x="78700" y="79593"/>
                  <a:pt x="75396" y="77391"/>
                </a:cubicBezTo>
                <a:cubicBezTo>
                  <a:pt x="72092" y="75188"/>
                  <a:pt x="67687" y="76081"/>
                  <a:pt x="65484" y="79385"/>
                </a:cubicBezTo>
                <a:lnTo>
                  <a:pt x="57150" y="91886"/>
                </a:lnTo>
                <a:lnTo>
                  <a:pt x="48816" y="79385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175397" y="5100638"/>
            <a:ext cx="1171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Excel Integration</a:t>
            </a:r>
            <a:endParaRPr sz="1600" b="0" i="0" u="none" strike="noStrike" cap="none"/>
          </a:p>
        </p:txBody>
      </p:sp>
      <p:sp>
        <p:nvSpPr>
          <p:cNvPr id="29" name="Google Shape;29;p4"/>
          <p:cNvSpPr/>
          <p:nvPr/>
        </p:nvSpPr>
        <p:spPr>
          <a:xfrm>
            <a:off x="381000" y="6096000"/>
            <a:ext cx="13430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Liter"/>
                <a:ea typeface="Liter"/>
                <a:cs typeface="Liter"/>
                <a:sym typeface="Liter"/>
              </a:rPr>
              <a:t>AX Academy</a:t>
            </a:r>
            <a:endParaRPr sz="1600" b="0" i="0" u="none" strike="noStrike" cap="none"/>
          </a:p>
        </p:txBody>
      </p:sp>
      <p:sp>
        <p:nvSpPr>
          <p:cNvPr id="30" name="Google Shape;30;p4"/>
          <p:cNvSpPr/>
          <p:nvPr/>
        </p:nvSpPr>
        <p:spPr>
          <a:xfrm>
            <a:off x="381000" y="6286500"/>
            <a:ext cx="13430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Digital Transformation</a:t>
            </a:r>
            <a:endParaRPr sz="1600" b="0" i="0" u="none" strike="noStrike" cap="none"/>
          </a:p>
        </p:txBody>
      </p:sp>
      <p:sp>
        <p:nvSpPr>
          <p:cNvPr id="31" name="Google Shape;31;p4"/>
          <p:cNvSpPr/>
          <p:nvPr/>
        </p:nvSpPr>
        <p:spPr>
          <a:xfrm>
            <a:off x="11120240" y="6286500"/>
            <a:ext cx="6953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Abril/2026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381000" y="4572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 extrusionOk="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38" name="Google Shape;38;p5"/>
          <p:cNvSpPr/>
          <p:nvPr/>
        </p:nvSpPr>
        <p:spPr>
          <a:xfrm>
            <a:off x="952500" y="381000"/>
            <a:ext cx="10001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50034"/>
                </a:solidFill>
                <a:latin typeface="Liter"/>
                <a:ea typeface="Liter"/>
                <a:cs typeface="Liter"/>
                <a:sym typeface="Liter"/>
              </a:rPr>
              <a:t>Navegação</a:t>
            </a:r>
            <a:endParaRPr sz="1600" b="0" i="0" u="none" strike="noStrike" cap="none"/>
          </a:p>
        </p:txBody>
      </p:sp>
      <p:sp>
        <p:nvSpPr>
          <p:cNvPr id="39" name="Google Shape;39;p5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Sumário</a:t>
            </a:r>
            <a:endParaRPr sz="1600" b="0" i="0" u="none" strike="noStrike" cap="none"/>
          </a:p>
        </p:txBody>
      </p:sp>
      <p:sp>
        <p:nvSpPr>
          <p:cNvPr id="40" name="Google Shape;40;p5"/>
          <p:cNvSpPr/>
          <p:nvPr/>
        </p:nvSpPr>
        <p:spPr>
          <a:xfrm>
            <a:off x="384175" y="1489075"/>
            <a:ext cx="5597525" cy="2168525"/>
          </a:xfrm>
          <a:custGeom>
            <a:avLst/>
            <a:gdLst/>
            <a:ahLst/>
            <a:cxnLst/>
            <a:rect l="l" t="t" r="r" b="b"/>
            <a:pathLst>
              <a:path w="5597525" h="2168525" extrusionOk="0">
                <a:moveTo>
                  <a:pt x="114303" y="0"/>
                </a:moveTo>
                <a:lnTo>
                  <a:pt x="5483222" y="0"/>
                </a:lnTo>
                <a:cubicBezTo>
                  <a:pt x="5546350" y="0"/>
                  <a:pt x="5597525" y="51175"/>
                  <a:pt x="5597525" y="114303"/>
                </a:cubicBezTo>
                <a:lnTo>
                  <a:pt x="5597525" y="2054222"/>
                </a:lnTo>
                <a:cubicBezTo>
                  <a:pt x="5597525" y="2117350"/>
                  <a:pt x="5546350" y="2168525"/>
                  <a:pt x="5483222" y="2168525"/>
                </a:cubicBezTo>
                <a:lnTo>
                  <a:pt x="114303" y="2168525"/>
                </a:lnTo>
                <a:cubicBezTo>
                  <a:pt x="51175" y="2168525"/>
                  <a:pt x="0" y="2117350"/>
                  <a:pt x="0" y="20542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>
            <a:gsLst>
              <a:gs pos="0">
                <a:srgbClr val="2D2D2D"/>
              </a:gs>
              <a:gs pos="100000">
                <a:srgbClr val="1A1A1A"/>
              </a:gs>
            </a:gsLst>
            <a:lin ang="2700000" scaled="0"/>
          </a:gra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387350" y="1492250"/>
            <a:ext cx="38100" cy="2162175"/>
          </a:xfrm>
          <a:custGeom>
            <a:avLst/>
            <a:gdLst/>
            <a:ahLst/>
            <a:cxnLst/>
            <a:rect l="l" t="t" r="r" b="b"/>
            <a:pathLst>
              <a:path w="38100" h="2162175" extrusionOk="0">
                <a:moveTo>
                  <a:pt x="19050" y="0"/>
                </a:moveTo>
                <a:lnTo>
                  <a:pt x="38100" y="0"/>
                </a:lnTo>
                <a:lnTo>
                  <a:pt x="38100" y="2162175"/>
                </a:lnTo>
                <a:lnTo>
                  <a:pt x="19050" y="2162175"/>
                </a:lnTo>
                <a:cubicBezTo>
                  <a:pt x="8536" y="2162175"/>
                  <a:pt x="0" y="2153639"/>
                  <a:pt x="0" y="2143125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615950" y="1720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extrusionOk="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558800" y="1720850"/>
            <a:ext cx="647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01</a:t>
            </a:r>
            <a:endParaRPr sz="1600" b="0" i="0" u="none" strike="noStrike" cap="none"/>
          </a:p>
        </p:txBody>
      </p:sp>
      <p:sp>
        <p:nvSpPr>
          <p:cNvPr id="44" name="Google Shape;44;p5"/>
          <p:cNvSpPr/>
          <p:nvPr/>
        </p:nvSpPr>
        <p:spPr>
          <a:xfrm>
            <a:off x="1301750" y="1720850"/>
            <a:ext cx="4343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Visão Geral do Projeto</a:t>
            </a:r>
            <a:endParaRPr sz="1600" b="0" i="0" u="none" strike="noStrike" cap="none"/>
          </a:p>
        </p:txBody>
      </p:sp>
      <p:sp>
        <p:nvSpPr>
          <p:cNvPr id="45" name="Google Shape;45;p5"/>
          <p:cNvSpPr/>
          <p:nvPr/>
        </p:nvSpPr>
        <p:spPr>
          <a:xfrm>
            <a:off x="1301750" y="2063750"/>
            <a:ext cx="43148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Objetivos, moedas monitoradas e fonte de dados da API do Banco Central</a:t>
            </a:r>
            <a:endParaRPr sz="1600" b="0" i="0" u="none" strike="noStrike" cap="none"/>
          </a:p>
        </p:txBody>
      </p:sp>
      <p:sp>
        <p:nvSpPr>
          <p:cNvPr id="46" name="Google Shape;46;p5"/>
          <p:cNvSpPr/>
          <p:nvPr/>
        </p:nvSpPr>
        <p:spPr>
          <a:xfrm>
            <a:off x="6213475" y="1489075"/>
            <a:ext cx="5597525" cy="2168525"/>
          </a:xfrm>
          <a:custGeom>
            <a:avLst/>
            <a:gdLst/>
            <a:ahLst/>
            <a:cxnLst/>
            <a:rect l="l" t="t" r="r" b="b"/>
            <a:pathLst>
              <a:path w="5597525" h="2168525" extrusionOk="0">
                <a:moveTo>
                  <a:pt x="114303" y="0"/>
                </a:moveTo>
                <a:lnTo>
                  <a:pt x="5483222" y="0"/>
                </a:lnTo>
                <a:cubicBezTo>
                  <a:pt x="5546350" y="0"/>
                  <a:pt x="5597525" y="51175"/>
                  <a:pt x="5597525" y="114303"/>
                </a:cubicBezTo>
                <a:lnTo>
                  <a:pt x="5597525" y="2054222"/>
                </a:lnTo>
                <a:cubicBezTo>
                  <a:pt x="5597525" y="2117350"/>
                  <a:pt x="5546350" y="2168525"/>
                  <a:pt x="5483222" y="2168525"/>
                </a:cubicBezTo>
                <a:lnTo>
                  <a:pt x="114303" y="2168525"/>
                </a:lnTo>
                <a:cubicBezTo>
                  <a:pt x="51175" y="2168525"/>
                  <a:pt x="0" y="2117350"/>
                  <a:pt x="0" y="20542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>
            <a:gsLst>
              <a:gs pos="0">
                <a:srgbClr val="2D2D2D"/>
              </a:gs>
              <a:gs pos="100000">
                <a:srgbClr val="1A1A1A"/>
              </a:gs>
            </a:gsLst>
            <a:lin ang="2700000" scaled="0"/>
          </a:gra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6216650" y="1492250"/>
            <a:ext cx="38100" cy="2162175"/>
          </a:xfrm>
          <a:custGeom>
            <a:avLst/>
            <a:gdLst/>
            <a:ahLst/>
            <a:cxnLst/>
            <a:rect l="l" t="t" r="r" b="b"/>
            <a:pathLst>
              <a:path w="38100" h="2162175" extrusionOk="0">
                <a:moveTo>
                  <a:pt x="19050" y="0"/>
                </a:moveTo>
                <a:lnTo>
                  <a:pt x="38100" y="0"/>
                </a:lnTo>
                <a:lnTo>
                  <a:pt x="38100" y="2162175"/>
                </a:lnTo>
                <a:lnTo>
                  <a:pt x="19050" y="2162175"/>
                </a:lnTo>
                <a:cubicBezTo>
                  <a:pt x="8536" y="2162175"/>
                  <a:pt x="0" y="2153639"/>
                  <a:pt x="0" y="2143125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6445250" y="1720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extrusionOk="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6388100" y="1720850"/>
            <a:ext cx="647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02</a:t>
            </a:r>
            <a:endParaRPr sz="1600" b="0" i="0" u="none" strike="noStrike" cap="none"/>
          </a:p>
        </p:txBody>
      </p:sp>
      <p:sp>
        <p:nvSpPr>
          <p:cNvPr id="50" name="Google Shape;50;p5"/>
          <p:cNvSpPr/>
          <p:nvPr/>
        </p:nvSpPr>
        <p:spPr>
          <a:xfrm>
            <a:off x="7131050" y="1720850"/>
            <a:ext cx="37433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Arquitetura e Funcionamento</a:t>
            </a:r>
            <a:endParaRPr sz="1600" b="0" i="0" u="none" strike="noStrike" cap="none"/>
          </a:p>
        </p:txBody>
      </p:sp>
      <p:sp>
        <p:nvSpPr>
          <p:cNvPr id="51" name="Google Shape;51;p5"/>
          <p:cNvSpPr/>
          <p:nvPr/>
        </p:nvSpPr>
        <p:spPr>
          <a:xfrm>
            <a:off x="7131050" y="2063750"/>
            <a:ext cx="3714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Componentes do sistema, arquivos Python e fluxo de execução</a:t>
            </a:r>
            <a:endParaRPr sz="1600" b="0" i="0" u="none" strike="noStrike" cap="none"/>
          </a:p>
        </p:txBody>
      </p:sp>
      <p:sp>
        <p:nvSpPr>
          <p:cNvPr id="52" name="Google Shape;52;p5"/>
          <p:cNvSpPr/>
          <p:nvPr/>
        </p:nvSpPr>
        <p:spPr>
          <a:xfrm>
            <a:off x="384175" y="3889375"/>
            <a:ext cx="5597525" cy="2168525"/>
          </a:xfrm>
          <a:custGeom>
            <a:avLst/>
            <a:gdLst/>
            <a:ahLst/>
            <a:cxnLst/>
            <a:rect l="l" t="t" r="r" b="b"/>
            <a:pathLst>
              <a:path w="5597525" h="2168525" extrusionOk="0">
                <a:moveTo>
                  <a:pt x="114303" y="0"/>
                </a:moveTo>
                <a:lnTo>
                  <a:pt x="5483222" y="0"/>
                </a:lnTo>
                <a:cubicBezTo>
                  <a:pt x="5546350" y="0"/>
                  <a:pt x="5597525" y="51175"/>
                  <a:pt x="5597525" y="114303"/>
                </a:cubicBezTo>
                <a:lnTo>
                  <a:pt x="5597525" y="2054222"/>
                </a:lnTo>
                <a:cubicBezTo>
                  <a:pt x="5597525" y="2117350"/>
                  <a:pt x="5546350" y="2168525"/>
                  <a:pt x="5483222" y="2168525"/>
                </a:cubicBezTo>
                <a:lnTo>
                  <a:pt x="114303" y="2168525"/>
                </a:lnTo>
                <a:cubicBezTo>
                  <a:pt x="51175" y="2168525"/>
                  <a:pt x="0" y="2117350"/>
                  <a:pt x="0" y="20542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>
            <a:gsLst>
              <a:gs pos="0">
                <a:srgbClr val="2D2D2D"/>
              </a:gs>
              <a:gs pos="100000">
                <a:srgbClr val="1A1A1A"/>
              </a:gs>
            </a:gsLst>
            <a:lin ang="2700000" scaled="0"/>
          </a:gra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387350" y="3892551"/>
            <a:ext cx="38100" cy="2162175"/>
          </a:xfrm>
          <a:custGeom>
            <a:avLst/>
            <a:gdLst/>
            <a:ahLst/>
            <a:cxnLst/>
            <a:rect l="l" t="t" r="r" b="b"/>
            <a:pathLst>
              <a:path w="38100" h="2162175" extrusionOk="0">
                <a:moveTo>
                  <a:pt x="19050" y="0"/>
                </a:moveTo>
                <a:lnTo>
                  <a:pt x="38100" y="0"/>
                </a:lnTo>
                <a:lnTo>
                  <a:pt x="38100" y="2162175"/>
                </a:lnTo>
                <a:lnTo>
                  <a:pt x="19050" y="2162175"/>
                </a:lnTo>
                <a:cubicBezTo>
                  <a:pt x="8536" y="2162175"/>
                  <a:pt x="0" y="2153639"/>
                  <a:pt x="0" y="2143125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615950" y="412115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extrusionOk="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58800" y="4121151"/>
            <a:ext cx="647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03</a:t>
            </a:r>
            <a:endParaRPr sz="1600" b="0" i="0" u="none" strike="noStrike" cap="none"/>
          </a:p>
        </p:txBody>
      </p:sp>
      <p:sp>
        <p:nvSpPr>
          <p:cNvPr id="56" name="Google Shape;56;p5"/>
          <p:cNvSpPr/>
          <p:nvPr/>
        </p:nvSpPr>
        <p:spPr>
          <a:xfrm>
            <a:off x="1301750" y="4121151"/>
            <a:ext cx="37814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Implementação Técnica</a:t>
            </a:r>
            <a:endParaRPr sz="1600" b="0" i="0" u="none" strike="noStrike" cap="none"/>
          </a:p>
        </p:txBody>
      </p:sp>
      <p:sp>
        <p:nvSpPr>
          <p:cNvPr id="57" name="Google Shape;57;p5"/>
          <p:cNvSpPr/>
          <p:nvPr/>
        </p:nvSpPr>
        <p:spPr>
          <a:xfrm>
            <a:off x="1301750" y="4464051"/>
            <a:ext cx="37528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Código, configuração e execução automática via Task Scheduler</a:t>
            </a:r>
            <a:endParaRPr sz="1600" b="0" i="0" u="none" strike="noStrike" cap="none"/>
          </a:p>
        </p:txBody>
      </p:sp>
      <p:sp>
        <p:nvSpPr>
          <p:cNvPr id="58" name="Google Shape;58;p5"/>
          <p:cNvSpPr/>
          <p:nvPr/>
        </p:nvSpPr>
        <p:spPr>
          <a:xfrm>
            <a:off x="6213475" y="3889375"/>
            <a:ext cx="5597525" cy="2168525"/>
          </a:xfrm>
          <a:custGeom>
            <a:avLst/>
            <a:gdLst/>
            <a:ahLst/>
            <a:cxnLst/>
            <a:rect l="l" t="t" r="r" b="b"/>
            <a:pathLst>
              <a:path w="5597525" h="2168525" extrusionOk="0">
                <a:moveTo>
                  <a:pt x="114303" y="0"/>
                </a:moveTo>
                <a:lnTo>
                  <a:pt x="5483222" y="0"/>
                </a:lnTo>
                <a:cubicBezTo>
                  <a:pt x="5546350" y="0"/>
                  <a:pt x="5597525" y="51175"/>
                  <a:pt x="5597525" y="114303"/>
                </a:cubicBezTo>
                <a:lnTo>
                  <a:pt x="5597525" y="2054222"/>
                </a:lnTo>
                <a:cubicBezTo>
                  <a:pt x="5597525" y="2117350"/>
                  <a:pt x="5546350" y="2168525"/>
                  <a:pt x="5483222" y="2168525"/>
                </a:cubicBezTo>
                <a:lnTo>
                  <a:pt x="114303" y="2168525"/>
                </a:lnTo>
                <a:cubicBezTo>
                  <a:pt x="51175" y="2168525"/>
                  <a:pt x="0" y="2117350"/>
                  <a:pt x="0" y="20542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>
            <a:gsLst>
              <a:gs pos="0">
                <a:srgbClr val="2D2D2D"/>
              </a:gs>
              <a:gs pos="100000">
                <a:srgbClr val="1A1A1A"/>
              </a:gs>
            </a:gsLst>
            <a:lin ang="2700000" scaled="0"/>
          </a:gra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216650" y="3892551"/>
            <a:ext cx="38100" cy="2162175"/>
          </a:xfrm>
          <a:custGeom>
            <a:avLst/>
            <a:gdLst/>
            <a:ahLst/>
            <a:cxnLst/>
            <a:rect l="l" t="t" r="r" b="b"/>
            <a:pathLst>
              <a:path w="38100" h="2162175" extrusionOk="0">
                <a:moveTo>
                  <a:pt x="19050" y="0"/>
                </a:moveTo>
                <a:lnTo>
                  <a:pt x="38100" y="0"/>
                </a:lnTo>
                <a:lnTo>
                  <a:pt x="38100" y="2162175"/>
                </a:lnTo>
                <a:lnTo>
                  <a:pt x="19050" y="2162175"/>
                </a:lnTo>
                <a:cubicBezTo>
                  <a:pt x="8536" y="2162175"/>
                  <a:pt x="0" y="2153639"/>
                  <a:pt x="0" y="2143125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445250" y="412115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extrusionOk="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388100" y="4121151"/>
            <a:ext cx="647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04</a:t>
            </a:r>
            <a:endParaRPr sz="1600" b="0" i="0" u="none" strike="noStrike" cap="none"/>
          </a:p>
        </p:txBody>
      </p:sp>
      <p:sp>
        <p:nvSpPr>
          <p:cNvPr id="62" name="Google Shape;62;p5"/>
          <p:cNvSpPr/>
          <p:nvPr/>
        </p:nvSpPr>
        <p:spPr>
          <a:xfrm>
            <a:off x="7131050" y="4121151"/>
            <a:ext cx="3505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Benefícios e Melhorias</a:t>
            </a:r>
            <a:endParaRPr sz="1600" b="0" i="0" u="none" strike="noStrike" cap="none"/>
          </a:p>
        </p:txBody>
      </p:sp>
      <p:sp>
        <p:nvSpPr>
          <p:cNvPr id="63" name="Google Shape;63;p5"/>
          <p:cNvSpPr/>
          <p:nvPr/>
        </p:nvSpPr>
        <p:spPr>
          <a:xfrm>
            <a:off x="7131050" y="4464051"/>
            <a:ext cx="3476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Valor agregado, automação contínua e evolução do projeto</a:t>
            </a:r>
            <a:endParaRPr sz="1600" b="0" i="0" u="none" strike="noStrike" cap="none"/>
          </a:p>
        </p:txBody>
      </p:sp>
      <p:sp>
        <p:nvSpPr>
          <p:cNvPr id="64" name="Google Shape;64;p5"/>
          <p:cNvSpPr/>
          <p:nvPr/>
        </p:nvSpPr>
        <p:spPr>
          <a:xfrm>
            <a:off x="400050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 extrusionOk="0">
                <a:moveTo>
                  <a:pt x="60554" y="1354"/>
                </a:moveTo>
                <a:cubicBezTo>
                  <a:pt x="64435" y="-443"/>
                  <a:pt x="68915" y="-443"/>
                  <a:pt x="72796" y="1354"/>
                </a:cubicBezTo>
                <a:lnTo>
                  <a:pt x="129730" y="27660"/>
                </a:lnTo>
                <a:cubicBezTo>
                  <a:pt x="131944" y="28675"/>
                  <a:pt x="133350" y="30889"/>
                  <a:pt x="133350" y="33337"/>
                </a:cubicBezTo>
                <a:cubicBezTo>
                  <a:pt x="133350" y="35786"/>
                  <a:pt x="131944" y="38000"/>
                  <a:pt x="129730" y="39015"/>
                </a:cubicBezTo>
                <a:lnTo>
                  <a:pt x="72796" y="65321"/>
                </a:lnTo>
                <a:cubicBezTo>
                  <a:pt x="68915" y="67118"/>
                  <a:pt x="64435" y="67118"/>
                  <a:pt x="60554" y="65321"/>
                </a:cubicBezTo>
                <a:lnTo>
                  <a:pt x="3620" y="39015"/>
                </a:lnTo>
                <a:cubicBezTo>
                  <a:pt x="1406" y="37973"/>
                  <a:pt x="0" y="35760"/>
                  <a:pt x="0" y="33337"/>
                </a:cubicBezTo>
                <a:cubicBezTo>
                  <a:pt x="0" y="30915"/>
                  <a:pt x="1406" y="28675"/>
                  <a:pt x="3620" y="27660"/>
                </a:cubicBezTo>
                <a:lnTo>
                  <a:pt x="60554" y="1354"/>
                </a:lnTo>
                <a:close/>
                <a:moveTo>
                  <a:pt x="12528" y="56882"/>
                </a:moveTo>
                <a:lnTo>
                  <a:pt x="55319" y="76650"/>
                </a:lnTo>
                <a:cubicBezTo>
                  <a:pt x="62534" y="79984"/>
                  <a:pt x="70842" y="79984"/>
                  <a:pt x="78057" y="76650"/>
                </a:cubicBezTo>
                <a:lnTo>
                  <a:pt x="120848" y="56882"/>
                </a:lnTo>
                <a:lnTo>
                  <a:pt x="129730" y="60997"/>
                </a:lnTo>
                <a:cubicBezTo>
                  <a:pt x="131944" y="62013"/>
                  <a:pt x="133350" y="64227"/>
                  <a:pt x="133350" y="66675"/>
                </a:cubicBezTo>
                <a:cubicBezTo>
                  <a:pt x="133350" y="69123"/>
                  <a:pt x="131944" y="71337"/>
                  <a:pt x="129730" y="72353"/>
                </a:cubicBezTo>
                <a:lnTo>
                  <a:pt x="72796" y="98658"/>
                </a:lnTo>
                <a:cubicBezTo>
                  <a:pt x="68915" y="100455"/>
                  <a:pt x="64435" y="100455"/>
                  <a:pt x="60554" y="98658"/>
                </a:cubicBezTo>
                <a:lnTo>
                  <a:pt x="3620" y="72353"/>
                </a:lnTo>
                <a:cubicBezTo>
                  <a:pt x="1406" y="71311"/>
                  <a:pt x="0" y="69097"/>
                  <a:pt x="0" y="66675"/>
                </a:cubicBezTo>
                <a:cubicBezTo>
                  <a:pt x="0" y="64253"/>
                  <a:pt x="1406" y="62013"/>
                  <a:pt x="3620" y="60997"/>
                </a:cubicBezTo>
                <a:lnTo>
                  <a:pt x="12502" y="56882"/>
                </a:lnTo>
                <a:close/>
                <a:moveTo>
                  <a:pt x="3620" y="94335"/>
                </a:moveTo>
                <a:lnTo>
                  <a:pt x="12502" y="90220"/>
                </a:lnTo>
                <a:lnTo>
                  <a:pt x="55293" y="109988"/>
                </a:lnTo>
                <a:cubicBezTo>
                  <a:pt x="62508" y="113321"/>
                  <a:pt x="70816" y="113321"/>
                  <a:pt x="78031" y="109988"/>
                </a:cubicBezTo>
                <a:lnTo>
                  <a:pt x="120822" y="90220"/>
                </a:lnTo>
                <a:lnTo>
                  <a:pt x="129704" y="94335"/>
                </a:lnTo>
                <a:cubicBezTo>
                  <a:pt x="131918" y="95350"/>
                  <a:pt x="133324" y="97564"/>
                  <a:pt x="133324" y="100013"/>
                </a:cubicBezTo>
                <a:cubicBezTo>
                  <a:pt x="133324" y="102461"/>
                  <a:pt x="131918" y="104675"/>
                  <a:pt x="129704" y="105690"/>
                </a:cubicBezTo>
                <a:lnTo>
                  <a:pt x="72770" y="131996"/>
                </a:lnTo>
                <a:cubicBezTo>
                  <a:pt x="68889" y="133793"/>
                  <a:pt x="64409" y="133793"/>
                  <a:pt x="60528" y="131996"/>
                </a:cubicBezTo>
                <a:lnTo>
                  <a:pt x="3620" y="105690"/>
                </a:lnTo>
                <a:cubicBezTo>
                  <a:pt x="1406" y="104648"/>
                  <a:pt x="0" y="102435"/>
                  <a:pt x="0" y="100013"/>
                </a:cubicBezTo>
                <a:cubicBezTo>
                  <a:pt x="0" y="97590"/>
                  <a:pt x="1406" y="95350"/>
                  <a:pt x="3620" y="94335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23888" y="62865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Seções Principais</a:t>
            </a:r>
            <a:endParaRPr sz="1600" b="0" i="0" u="none" strike="noStrike" cap="none"/>
          </a:p>
        </p:txBody>
      </p:sp>
      <p:sp>
        <p:nvSpPr>
          <p:cNvPr id="66" name="Google Shape;66;p5"/>
          <p:cNvSpPr/>
          <p:nvPr/>
        </p:nvSpPr>
        <p:spPr>
          <a:xfrm>
            <a:off x="5296396" y="6286500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Projeto RPA – Monitoramento de Cotações</a:t>
            </a:r>
            <a:endParaRPr sz="1600" b="0" i="0" u="none" strike="noStrike" cap="none"/>
          </a:p>
        </p:txBody>
      </p:sp>
      <p:sp>
        <p:nvSpPr>
          <p:cNvPr id="67" name="Google Shape;67;p5"/>
          <p:cNvSpPr/>
          <p:nvPr/>
        </p:nvSpPr>
        <p:spPr>
          <a:xfrm>
            <a:off x="11333461" y="6286500"/>
            <a:ext cx="304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2/12</a:t>
            </a:r>
            <a:endParaRPr sz="1600" b="0" i="0" u="none" strike="noStrike" cap="none"/>
          </a:p>
        </p:txBody>
      </p:sp>
      <p:sp>
        <p:nvSpPr>
          <p:cNvPr id="68" name="Google Shape;68;p5"/>
          <p:cNvSpPr/>
          <p:nvPr/>
        </p:nvSpPr>
        <p:spPr>
          <a:xfrm>
            <a:off x="11680031" y="63150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 extrusionOk="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6" descr="https://kimi-web-img.moonshot.cn/img/thumbs.dreamstime.com/d1ca2b66c77b43a1f6cbd5f1bfd062c37eecc19b.jpg"/>
          <p:cNvPicPr preferRelativeResize="0"/>
          <p:nvPr/>
        </p:nvPicPr>
        <p:blipFill rotWithShape="1">
          <a:blip r:embed="rId3">
            <a:alphaModFix amt="30000"/>
          </a:blip>
          <a:srcRect l="6333" r="633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A1A"/>
              </a:gs>
              <a:gs pos="50000">
                <a:srgbClr val="1A1A1A">
                  <a:alpha val="94901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76" name="Google Shape;76;p6"/>
          <p:cNvSpPr/>
          <p:nvPr/>
        </p:nvSpPr>
        <p:spPr>
          <a:xfrm>
            <a:off x="381000" y="17335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extrusionOk="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295275" y="1733550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01</a:t>
            </a:r>
            <a:endParaRPr sz="1600" b="0" i="0" u="none" strike="noStrike" cap="none"/>
          </a:p>
        </p:txBody>
      </p:sp>
      <p:sp>
        <p:nvSpPr>
          <p:cNvPr id="78" name="Google Shape;78;p6"/>
          <p:cNvSpPr/>
          <p:nvPr/>
        </p:nvSpPr>
        <p:spPr>
          <a:xfrm>
            <a:off x="1295400" y="2095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 extrusionOk="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79" name="Google Shape;79;p6"/>
          <p:cNvSpPr/>
          <p:nvPr/>
        </p:nvSpPr>
        <p:spPr>
          <a:xfrm>
            <a:off x="381000" y="2724150"/>
            <a:ext cx="76009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Visão Geral</a:t>
            </a:r>
            <a:endParaRPr sz="16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do Projeto</a:t>
            </a:r>
            <a:endParaRPr sz="1600" b="0" i="0" u="none" strike="noStrike" cap="none"/>
          </a:p>
        </p:txBody>
      </p:sp>
      <p:sp>
        <p:nvSpPr>
          <p:cNvPr id="80" name="Google Shape;80;p6"/>
          <p:cNvSpPr/>
          <p:nvPr/>
        </p:nvSpPr>
        <p:spPr>
          <a:xfrm>
            <a:off x="381000" y="4381500"/>
            <a:ext cx="74295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Objetivos, moedas monitoradas e fonte de dados da API oficial do Banco Central do Brasil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 extrusionOk="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87" name="Google Shape;87;p7"/>
          <p:cNvSpPr/>
          <p:nvPr/>
        </p:nvSpPr>
        <p:spPr>
          <a:xfrm>
            <a:off x="876300" y="381000"/>
            <a:ext cx="781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50034"/>
                </a:solidFill>
                <a:latin typeface="Liter"/>
                <a:ea typeface="Liter"/>
                <a:cs typeface="Liter"/>
                <a:sym typeface="Liter"/>
              </a:rPr>
              <a:t>Seção 01</a:t>
            </a:r>
            <a:endParaRPr sz="1600" b="0" i="0" u="none" strike="noStrike" cap="none"/>
          </a:p>
        </p:txBody>
      </p:sp>
      <p:sp>
        <p:nvSpPr>
          <p:cNvPr id="88" name="Google Shape;88;p7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Objetivo e Escopo</a:t>
            </a:r>
            <a:endParaRPr sz="1600" b="0" i="0" u="none" strike="noStrike" cap="none"/>
          </a:p>
        </p:txBody>
      </p:sp>
      <p:sp>
        <p:nvSpPr>
          <p:cNvPr id="89" name="Google Shape;89;p7"/>
          <p:cNvSpPr/>
          <p:nvPr/>
        </p:nvSpPr>
        <p:spPr>
          <a:xfrm>
            <a:off x="384175" y="1298575"/>
            <a:ext cx="5597525" cy="1739900"/>
          </a:xfrm>
          <a:custGeom>
            <a:avLst/>
            <a:gdLst/>
            <a:ahLst/>
            <a:cxnLst/>
            <a:rect l="l" t="t" r="r" b="b"/>
            <a:pathLst>
              <a:path w="5597525" h="1739900" extrusionOk="0">
                <a:moveTo>
                  <a:pt x="114294" y="0"/>
                </a:moveTo>
                <a:lnTo>
                  <a:pt x="5483231" y="0"/>
                </a:lnTo>
                <a:cubicBezTo>
                  <a:pt x="5546354" y="0"/>
                  <a:pt x="5597525" y="51171"/>
                  <a:pt x="5597525" y="114294"/>
                </a:cubicBezTo>
                <a:lnTo>
                  <a:pt x="5597525" y="1625606"/>
                </a:lnTo>
                <a:cubicBezTo>
                  <a:pt x="5597525" y="1688729"/>
                  <a:pt x="5546354" y="1739900"/>
                  <a:pt x="5483231" y="1739900"/>
                </a:cubicBezTo>
                <a:lnTo>
                  <a:pt x="114294" y="1739900"/>
                </a:lnTo>
                <a:cubicBezTo>
                  <a:pt x="51171" y="1739900"/>
                  <a:pt x="0" y="1688729"/>
                  <a:pt x="0" y="162560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>
            <a:gsLst>
              <a:gs pos="0">
                <a:srgbClr val="A50034">
                  <a:alpha val="20000"/>
                </a:srgbClr>
              </a:gs>
              <a:gs pos="100000">
                <a:srgbClr val="2D2D2D"/>
              </a:gs>
            </a:gsLst>
            <a:lin ang="2700000" scaled="0"/>
          </a:gradFill>
          <a:ln w="9525" cap="flat" cmpd="sng">
            <a:solidFill>
              <a:srgbClr val="A50034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615950" y="15303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extrusionOk="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730250" y="164465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1111250" y="1587501"/>
            <a:ext cx="1562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Objetivo Principal</a:t>
            </a:r>
            <a:endParaRPr sz="1600" b="0" i="0" u="none" strike="noStrike" cap="none"/>
          </a:p>
        </p:txBody>
      </p:sp>
      <p:sp>
        <p:nvSpPr>
          <p:cNvPr id="93" name="Google Shape;93;p7"/>
          <p:cNvSpPr/>
          <p:nvPr/>
        </p:nvSpPr>
        <p:spPr>
          <a:xfrm>
            <a:off x="615950" y="2063751"/>
            <a:ext cx="521017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Automatizar a </a:t>
            </a:r>
            <a:r>
              <a:rPr lang="en-US" sz="1200" b="1" i="0" u="none" strike="noStrike" cap="none">
                <a:solidFill>
                  <a:srgbClr val="A5003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coleta de cotações monetárias</a:t>
            </a:r>
            <a:r>
              <a:rPr lang="en-US" sz="12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 registrar em uma base Excel organizada, eliminando tarefas manuais e garantindo atualizações periódicas precisas.</a:t>
            </a:r>
            <a:endParaRPr sz="1600" b="0" i="0" u="none" strike="noStrike" cap="none"/>
          </a:p>
        </p:txBody>
      </p:sp>
      <p:sp>
        <p:nvSpPr>
          <p:cNvPr id="94" name="Google Shape;94;p7"/>
          <p:cNvSpPr/>
          <p:nvPr/>
        </p:nvSpPr>
        <p:spPr>
          <a:xfrm>
            <a:off x="384175" y="3235327"/>
            <a:ext cx="5597525" cy="3168650"/>
          </a:xfrm>
          <a:custGeom>
            <a:avLst/>
            <a:gdLst/>
            <a:ahLst/>
            <a:cxnLst/>
            <a:rect l="l" t="t" r="r" b="b"/>
            <a:pathLst>
              <a:path w="5597525" h="3168650" extrusionOk="0">
                <a:moveTo>
                  <a:pt x="114293" y="0"/>
                </a:moveTo>
                <a:lnTo>
                  <a:pt x="5483232" y="0"/>
                </a:lnTo>
                <a:cubicBezTo>
                  <a:pt x="5546354" y="0"/>
                  <a:pt x="5597525" y="51171"/>
                  <a:pt x="5597525" y="114293"/>
                </a:cubicBezTo>
                <a:lnTo>
                  <a:pt x="5597525" y="3054357"/>
                </a:lnTo>
                <a:cubicBezTo>
                  <a:pt x="5597525" y="3117437"/>
                  <a:pt x="5546312" y="3168650"/>
                  <a:pt x="5483232" y="3168650"/>
                </a:cubicBezTo>
                <a:lnTo>
                  <a:pt x="114293" y="3168650"/>
                </a:lnTo>
                <a:cubicBezTo>
                  <a:pt x="51171" y="3168650"/>
                  <a:pt x="0" y="3117479"/>
                  <a:pt x="0" y="305435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D2D2D"/>
          </a:soli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615950" y="3467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extrusionOk="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A6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730250" y="3581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38100" y="28575"/>
                </a:moveTo>
                <a:lnTo>
                  <a:pt x="38100" y="23813"/>
                </a:lnTo>
                <a:cubicBezTo>
                  <a:pt x="38100" y="10656"/>
                  <a:pt x="63698" y="0"/>
                  <a:pt x="95250" y="0"/>
                </a:cubicBezTo>
                <a:cubicBezTo>
                  <a:pt x="126802" y="0"/>
                  <a:pt x="152400" y="10656"/>
                  <a:pt x="152400" y="23813"/>
                </a:cubicBezTo>
                <a:lnTo>
                  <a:pt x="152400" y="28575"/>
                </a:lnTo>
                <a:cubicBezTo>
                  <a:pt x="152400" y="37683"/>
                  <a:pt x="140107" y="45601"/>
                  <a:pt x="122039" y="49619"/>
                </a:cubicBezTo>
                <a:cubicBezTo>
                  <a:pt x="121325" y="48786"/>
                  <a:pt x="120581" y="47982"/>
                  <a:pt x="119836" y="47238"/>
                </a:cubicBezTo>
                <a:cubicBezTo>
                  <a:pt x="115223" y="42684"/>
                  <a:pt x="109270" y="39231"/>
                  <a:pt x="103049" y="36671"/>
                </a:cubicBezTo>
                <a:cubicBezTo>
                  <a:pt x="90577" y="31462"/>
                  <a:pt x="74325" y="28605"/>
                  <a:pt x="57150" y="28605"/>
                </a:cubicBezTo>
                <a:cubicBezTo>
                  <a:pt x="50631" y="28605"/>
                  <a:pt x="44261" y="29021"/>
                  <a:pt x="38160" y="29825"/>
                </a:cubicBezTo>
                <a:cubicBezTo>
                  <a:pt x="38100" y="29438"/>
                  <a:pt x="38100" y="29021"/>
                  <a:pt x="38100" y="28605"/>
                </a:cubicBezTo>
                <a:close/>
                <a:moveTo>
                  <a:pt x="128588" y="105073"/>
                </a:moveTo>
                <a:lnTo>
                  <a:pt x="128588" y="91321"/>
                </a:lnTo>
                <a:cubicBezTo>
                  <a:pt x="133082" y="90160"/>
                  <a:pt x="137309" y="88791"/>
                  <a:pt x="141149" y="87184"/>
                </a:cubicBezTo>
                <a:cubicBezTo>
                  <a:pt x="145078" y="85546"/>
                  <a:pt x="148917" y="83552"/>
                  <a:pt x="152400" y="81141"/>
                </a:cubicBezTo>
                <a:lnTo>
                  <a:pt x="152400" y="85725"/>
                </a:lnTo>
                <a:cubicBezTo>
                  <a:pt x="152400" y="93702"/>
                  <a:pt x="143024" y="100757"/>
                  <a:pt x="128588" y="105073"/>
                </a:cubicBezTo>
                <a:close/>
                <a:moveTo>
                  <a:pt x="128588" y="76498"/>
                </a:moveTo>
                <a:lnTo>
                  <a:pt x="128588" y="66675"/>
                </a:lnTo>
                <a:cubicBezTo>
                  <a:pt x="128588" y="65336"/>
                  <a:pt x="128468" y="64056"/>
                  <a:pt x="128290" y="62805"/>
                </a:cubicBezTo>
                <a:cubicBezTo>
                  <a:pt x="132904" y="61645"/>
                  <a:pt x="137220" y="60246"/>
                  <a:pt x="141149" y="58579"/>
                </a:cubicBezTo>
                <a:cubicBezTo>
                  <a:pt x="145078" y="56912"/>
                  <a:pt x="148917" y="54947"/>
                  <a:pt x="152400" y="52536"/>
                </a:cubicBezTo>
                <a:lnTo>
                  <a:pt x="152400" y="57120"/>
                </a:lnTo>
                <a:cubicBezTo>
                  <a:pt x="152400" y="65097"/>
                  <a:pt x="143024" y="72152"/>
                  <a:pt x="128588" y="76468"/>
                </a:cubicBezTo>
                <a:close/>
                <a:moveTo>
                  <a:pt x="0" y="71438"/>
                </a:moveTo>
                <a:lnTo>
                  <a:pt x="0" y="66675"/>
                </a:lnTo>
                <a:cubicBezTo>
                  <a:pt x="0" y="53519"/>
                  <a:pt x="25598" y="42863"/>
                  <a:pt x="57150" y="42863"/>
                </a:cubicBezTo>
                <a:cubicBezTo>
                  <a:pt x="88702" y="42863"/>
                  <a:pt x="114300" y="53519"/>
                  <a:pt x="114300" y="66675"/>
                </a:cubicBezTo>
                <a:lnTo>
                  <a:pt x="114300" y="71438"/>
                </a:lnTo>
                <a:cubicBezTo>
                  <a:pt x="114300" y="84594"/>
                  <a:pt x="88702" y="95250"/>
                  <a:pt x="57150" y="95250"/>
                </a:cubicBezTo>
                <a:cubicBezTo>
                  <a:pt x="25598" y="95250"/>
                  <a:pt x="0" y="84594"/>
                  <a:pt x="0" y="71438"/>
                </a:cubicBezTo>
                <a:close/>
                <a:moveTo>
                  <a:pt x="114300" y="100013"/>
                </a:moveTo>
                <a:cubicBezTo>
                  <a:pt x="114300" y="113169"/>
                  <a:pt x="88702" y="123825"/>
                  <a:pt x="57150" y="123825"/>
                </a:cubicBezTo>
                <a:cubicBezTo>
                  <a:pt x="25598" y="123825"/>
                  <a:pt x="0" y="113169"/>
                  <a:pt x="0" y="100013"/>
                </a:cubicBezTo>
                <a:lnTo>
                  <a:pt x="0" y="95429"/>
                </a:lnTo>
                <a:cubicBezTo>
                  <a:pt x="3453" y="97840"/>
                  <a:pt x="7293" y="99804"/>
                  <a:pt x="11251" y="101471"/>
                </a:cubicBezTo>
                <a:cubicBezTo>
                  <a:pt x="23723" y="106680"/>
                  <a:pt x="39975" y="109538"/>
                  <a:pt x="57150" y="109538"/>
                </a:cubicBezTo>
                <a:cubicBezTo>
                  <a:pt x="74325" y="109538"/>
                  <a:pt x="90577" y="106650"/>
                  <a:pt x="103049" y="101471"/>
                </a:cubicBezTo>
                <a:cubicBezTo>
                  <a:pt x="106978" y="99834"/>
                  <a:pt x="110817" y="97840"/>
                  <a:pt x="114300" y="95429"/>
                </a:cubicBezTo>
                <a:lnTo>
                  <a:pt x="114300" y="100013"/>
                </a:lnTo>
                <a:close/>
                <a:moveTo>
                  <a:pt x="114300" y="124004"/>
                </a:moveTo>
                <a:lnTo>
                  <a:pt x="114300" y="128588"/>
                </a:lnTo>
                <a:cubicBezTo>
                  <a:pt x="114300" y="141744"/>
                  <a:pt x="88702" y="152400"/>
                  <a:pt x="57150" y="152400"/>
                </a:cubicBezTo>
                <a:cubicBezTo>
                  <a:pt x="25598" y="152400"/>
                  <a:pt x="0" y="141744"/>
                  <a:pt x="0" y="128588"/>
                </a:cubicBezTo>
                <a:lnTo>
                  <a:pt x="0" y="124004"/>
                </a:lnTo>
                <a:cubicBezTo>
                  <a:pt x="3453" y="126415"/>
                  <a:pt x="7293" y="128379"/>
                  <a:pt x="11251" y="130046"/>
                </a:cubicBezTo>
                <a:cubicBezTo>
                  <a:pt x="23723" y="135255"/>
                  <a:pt x="39975" y="138113"/>
                  <a:pt x="57150" y="138113"/>
                </a:cubicBezTo>
                <a:cubicBezTo>
                  <a:pt x="74325" y="138113"/>
                  <a:pt x="90577" y="135225"/>
                  <a:pt x="103049" y="130046"/>
                </a:cubicBezTo>
                <a:cubicBezTo>
                  <a:pt x="106978" y="128409"/>
                  <a:pt x="110817" y="126415"/>
                  <a:pt x="114300" y="1240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1111250" y="3524250"/>
            <a:ext cx="1866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Moedas Monitoradas</a:t>
            </a:r>
            <a:endParaRPr sz="1600" b="0" i="0" u="none" strike="noStrike" cap="none"/>
          </a:p>
        </p:txBody>
      </p:sp>
      <p:sp>
        <p:nvSpPr>
          <p:cNvPr id="98" name="Google Shape;98;p7"/>
          <p:cNvSpPr/>
          <p:nvPr/>
        </p:nvSpPr>
        <p:spPr>
          <a:xfrm>
            <a:off x="615950" y="4000500"/>
            <a:ext cx="5133975" cy="647700"/>
          </a:xfrm>
          <a:custGeom>
            <a:avLst/>
            <a:gdLst/>
            <a:ahLst/>
            <a:cxnLst/>
            <a:rect l="l" t="t" r="r" b="b"/>
            <a:pathLst>
              <a:path w="5133975" h="647700" extrusionOk="0">
                <a:moveTo>
                  <a:pt x="76202" y="0"/>
                </a:moveTo>
                <a:lnTo>
                  <a:pt x="5057773" y="0"/>
                </a:lnTo>
                <a:cubicBezTo>
                  <a:pt x="5099858" y="0"/>
                  <a:pt x="5133975" y="34117"/>
                  <a:pt x="5133975" y="76202"/>
                </a:cubicBezTo>
                <a:lnTo>
                  <a:pt x="5133975" y="571498"/>
                </a:lnTo>
                <a:cubicBezTo>
                  <a:pt x="5133975" y="613583"/>
                  <a:pt x="5099858" y="647700"/>
                  <a:pt x="50577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730250" y="4133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extrusionOk="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696913" y="4133850"/>
            <a:ext cx="447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</a:t>
            </a:r>
            <a:endParaRPr sz="1600" b="0" i="0" u="none" strike="noStrike" cap="none"/>
          </a:p>
        </p:txBody>
      </p:sp>
      <p:sp>
        <p:nvSpPr>
          <p:cNvPr id="101" name="Google Shape;101;p7"/>
          <p:cNvSpPr/>
          <p:nvPr/>
        </p:nvSpPr>
        <p:spPr>
          <a:xfrm>
            <a:off x="1225550" y="4114800"/>
            <a:ext cx="1609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Dólar Americano</a:t>
            </a:r>
            <a:endParaRPr sz="1600" b="0" i="0" u="none" strike="noStrike" cap="none"/>
          </a:p>
        </p:txBody>
      </p:sp>
      <p:sp>
        <p:nvSpPr>
          <p:cNvPr id="102" name="Google Shape;102;p7"/>
          <p:cNvSpPr/>
          <p:nvPr/>
        </p:nvSpPr>
        <p:spPr>
          <a:xfrm>
            <a:off x="1225550" y="4343400"/>
            <a:ext cx="1600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USD - United States Dollar</a:t>
            </a:r>
            <a:endParaRPr sz="1600" b="0" i="0" u="none" strike="noStrike" cap="none"/>
          </a:p>
        </p:txBody>
      </p:sp>
      <p:sp>
        <p:nvSpPr>
          <p:cNvPr id="103" name="Google Shape;103;p7"/>
          <p:cNvSpPr/>
          <p:nvPr/>
        </p:nvSpPr>
        <p:spPr>
          <a:xfrm>
            <a:off x="615950" y="4762500"/>
            <a:ext cx="5133975" cy="647700"/>
          </a:xfrm>
          <a:custGeom>
            <a:avLst/>
            <a:gdLst/>
            <a:ahLst/>
            <a:cxnLst/>
            <a:rect l="l" t="t" r="r" b="b"/>
            <a:pathLst>
              <a:path w="5133975" h="647700" extrusionOk="0">
                <a:moveTo>
                  <a:pt x="76202" y="0"/>
                </a:moveTo>
                <a:lnTo>
                  <a:pt x="5057773" y="0"/>
                </a:lnTo>
                <a:cubicBezTo>
                  <a:pt x="5099858" y="0"/>
                  <a:pt x="5133975" y="34117"/>
                  <a:pt x="5133975" y="76202"/>
                </a:cubicBezTo>
                <a:lnTo>
                  <a:pt x="5133975" y="571498"/>
                </a:lnTo>
                <a:cubicBezTo>
                  <a:pt x="5133975" y="613583"/>
                  <a:pt x="5099858" y="647700"/>
                  <a:pt x="50577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730250" y="4895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extrusionOk="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96913" y="4895850"/>
            <a:ext cx="447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€</a:t>
            </a:r>
            <a:endParaRPr sz="1600" b="0" i="0" u="none" strike="noStrike" cap="none"/>
          </a:p>
        </p:txBody>
      </p:sp>
      <p:sp>
        <p:nvSpPr>
          <p:cNvPr id="106" name="Google Shape;106;p7"/>
          <p:cNvSpPr/>
          <p:nvPr/>
        </p:nvSpPr>
        <p:spPr>
          <a:xfrm>
            <a:off x="1225550" y="4876800"/>
            <a:ext cx="1666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Euro</a:t>
            </a:r>
            <a:endParaRPr sz="1600" b="0" i="0" u="none" strike="noStrike" cap="none"/>
          </a:p>
        </p:txBody>
      </p:sp>
      <p:sp>
        <p:nvSpPr>
          <p:cNvPr id="107" name="Google Shape;107;p7"/>
          <p:cNvSpPr/>
          <p:nvPr/>
        </p:nvSpPr>
        <p:spPr>
          <a:xfrm>
            <a:off x="1225550" y="5105400"/>
            <a:ext cx="1657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EUR - European Union Euro</a:t>
            </a:r>
            <a:endParaRPr sz="1600" b="0" i="0" u="none" strike="noStrike" cap="none"/>
          </a:p>
        </p:txBody>
      </p:sp>
      <p:sp>
        <p:nvSpPr>
          <p:cNvPr id="108" name="Google Shape;108;p7"/>
          <p:cNvSpPr/>
          <p:nvPr/>
        </p:nvSpPr>
        <p:spPr>
          <a:xfrm>
            <a:off x="615950" y="5524500"/>
            <a:ext cx="5133975" cy="647700"/>
          </a:xfrm>
          <a:custGeom>
            <a:avLst/>
            <a:gdLst/>
            <a:ahLst/>
            <a:cxnLst/>
            <a:rect l="l" t="t" r="r" b="b"/>
            <a:pathLst>
              <a:path w="5133975" h="647700" extrusionOk="0">
                <a:moveTo>
                  <a:pt x="76202" y="0"/>
                </a:moveTo>
                <a:lnTo>
                  <a:pt x="5057773" y="0"/>
                </a:lnTo>
                <a:cubicBezTo>
                  <a:pt x="5099858" y="0"/>
                  <a:pt x="5133975" y="34117"/>
                  <a:pt x="5133975" y="76202"/>
                </a:cubicBezTo>
                <a:lnTo>
                  <a:pt x="5133975" y="571498"/>
                </a:lnTo>
                <a:cubicBezTo>
                  <a:pt x="5133975" y="613583"/>
                  <a:pt x="5099858" y="647700"/>
                  <a:pt x="50577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730250" y="5657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extrusionOk="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087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696913" y="5657850"/>
            <a:ext cx="447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R$</a:t>
            </a:r>
            <a:endParaRPr sz="1600" b="0" i="0" u="none" strike="noStrike" cap="none"/>
          </a:p>
        </p:txBody>
      </p:sp>
      <p:sp>
        <p:nvSpPr>
          <p:cNvPr id="111" name="Google Shape;111;p7"/>
          <p:cNvSpPr/>
          <p:nvPr/>
        </p:nvSpPr>
        <p:spPr>
          <a:xfrm>
            <a:off x="1225550" y="5638800"/>
            <a:ext cx="1181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 Brasileiro</a:t>
            </a:r>
            <a:endParaRPr sz="1600" b="0" i="0" u="none" strike="noStrike" cap="none"/>
          </a:p>
        </p:txBody>
      </p:sp>
      <p:sp>
        <p:nvSpPr>
          <p:cNvPr id="112" name="Google Shape;112;p7"/>
          <p:cNvSpPr/>
          <p:nvPr/>
        </p:nvSpPr>
        <p:spPr>
          <a:xfrm>
            <a:off x="1225550" y="5867400"/>
            <a:ext cx="1171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BRL - Brazilian Real</a:t>
            </a:r>
            <a:endParaRPr sz="1600" b="0" i="0" u="none" strike="noStrike" cap="none"/>
          </a:p>
        </p:txBody>
      </p:sp>
      <p:sp>
        <p:nvSpPr>
          <p:cNvPr id="113" name="Google Shape;113;p7"/>
          <p:cNvSpPr/>
          <p:nvPr/>
        </p:nvSpPr>
        <p:spPr>
          <a:xfrm>
            <a:off x="6213475" y="1298575"/>
            <a:ext cx="5597525" cy="3883025"/>
          </a:xfrm>
          <a:custGeom>
            <a:avLst/>
            <a:gdLst/>
            <a:ahLst/>
            <a:cxnLst/>
            <a:rect l="l" t="t" r="r" b="b"/>
            <a:pathLst>
              <a:path w="5597525" h="3883025" extrusionOk="0">
                <a:moveTo>
                  <a:pt x="114316" y="0"/>
                </a:moveTo>
                <a:lnTo>
                  <a:pt x="5483209" y="0"/>
                </a:lnTo>
                <a:cubicBezTo>
                  <a:pt x="5546344" y="0"/>
                  <a:pt x="5597525" y="51181"/>
                  <a:pt x="5597525" y="114316"/>
                </a:cubicBezTo>
                <a:lnTo>
                  <a:pt x="5597525" y="3768709"/>
                </a:lnTo>
                <a:cubicBezTo>
                  <a:pt x="5597525" y="3831844"/>
                  <a:pt x="5546344" y="3883025"/>
                  <a:pt x="5483209" y="3883025"/>
                </a:cubicBezTo>
                <a:lnTo>
                  <a:pt x="114316" y="3883025"/>
                </a:lnTo>
                <a:cubicBezTo>
                  <a:pt x="51181" y="3883025"/>
                  <a:pt x="0" y="3831844"/>
                  <a:pt x="0" y="3768709"/>
                </a:cubicBezTo>
                <a:lnTo>
                  <a:pt x="0" y="114316"/>
                </a:lnTo>
                <a:cubicBezTo>
                  <a:pt x="0" y="51181"/>
                  <a:pt x="51181" y="0"/>
                  <a:pt x="114316" y="0"/>
                </a:cubicBezTo>
                <a:close/>
              </a:path>
            </a:pathLst>
          </a:custGeom>
          <a:solidFill>
            <a:srgbClr val="2D2D2D"/>
          </a:soli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6445250" y="15303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extrusionOk="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569075" y="164465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 extrusionOk="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6940550" y="1587501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Fonte dos Dados</a:t>
            </a:r>
            <a:endParaRPr sz="1600" b="0" i="0" u="none" strike="noStrike" cap="none"/>
          </a:p>
        </p:txBody>
      </p:sp>
      <p:sp>
        <p:nvSpPr>
          <p:cNvPr id="117" name="Google Shape;117;p7"/>
          <p:cNvSpPr/>
          <p:nvPr/>
        </p:nvSpPr>
        <p:spPr>
          <a:xfrm>
            <a:off x="6445250" y="2063751"/>
            <a:ext cx="5133975" cy="838200"/>
          </a:xfrm>
          <a:custGeom>
            <a:avLst/>
            <a:gdLst/>
            <a:ahLst/>
            <a:cxnLst/>
            <a:rect l="l" t="t" r="r" b="b"/>
            <a:pathLst>
              <a:path w="5133975" h="838200" extrusionOk="0">
                <a:moveTo>
                  <a:pt x="76201" y="0"/>
                </a:moveTo>
                <a:lnTo>
                  <a:pt x="5057774" y="0"/>
                </a:lnTo>
                <a:cubicBezTo>
                  <a:pt x="5099859" y="0"/>
                  <a:pt x="5133975" y="34116"/>
                  <a:pt x="5133975" y="76201"/>
                </a:cubicBezTo>
                <a:lnTo>
                  <a:pt x="5133975" y="761999"/>
                </a:lnTo>
                <a:cubicBezTo>
                  <a:pt x="5133975" y="804084"/>
                  <a:pt x="5099859" y="838200"/>
                  <a:pt x="505777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626225" y="23114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121399" y="9019"/>
                </a:moveTo>
                <a:cubicBezTo>
                  <a:pt x="117024" y="6519"/>
                  <a:pt x="111621" y="6519"/>
                  <a:pt x="107201" y="9019"/>
                </a:cubicBezTo>
                <a:lnTo>
                  <a:pt x="7188" y="66169"/>
                </a:lnTo>
                <a:cubicBezTo>
                  <a:pt x="1563" y="69384"/>
                  <a:pt x="-1206" y="75992"/>
                  <a:pt x="446" y="82242"/>
                </a:cubicBezTo>
                <a:cubicBezTo>
                  <a:pt x="2098" y="88493"/>
                  <a:pt x="7813" y="92869"/>
                  <a:pt x="14288" y="92869"/>
                </a:cubicBezTo>
                <a:lnTo>
                  <a:pt x="28575" y="92869"/>
                </a:lnTo>
                <a:lnTo>
                  <a:pt x="28575" y="185738"/>
                </a:lnTo>
                <a:lnTo>
                  <a:pt x="28575" y="185738"/>
                </a:lnTo>
                <a:lnTo>
                  <a:pt x="5715" y="202883"/>
                </a:lnTo>
                <a:cubicBezTo>
                  <a:pt x="2098" y="205561"/>
                  <a:pt x="0" y="209803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9803"/>
                  <a:pt x="226502" y="205561"/>
                  <a:pt x="222885" y="202883"/>
                </a:cubicBezTo>
                <a:lnTo>
                  <a:pt x="200025" y="185738"/>
                </a:lnTo>
                <a:lnTo>
                  <a:pt x="200025" y="92869"/>
                </a:lnTo>
                <a:lnTo>
                  <a:pt x="214313" y="92869"/>
                </a:lnTo>
                <a:cubicBezTo>
                  <a:pt x="220787" y="92869"/>
                  <a:pt x="226457" y="88493"/>
                  <a:pt x="228109" y="82242"/>
                </a:cubicBezTo>
                <a:cubicBezTo>
                  <a:pt x="229761" y="75992"/>
                  <a:pt x="226993" y="69384"/>
                  <a:pt x="221367" y="66169"/>
                </a:cubicBezTo>
                <a:lnTo>
                  <a:pt x="121354" y="9019"/>
                </a:lnTo>
                <a:close/>
                <a:moveTo>
                  <a:pt x="178594" y="92869"/>
                </a:moveTo>
                <a:lnTo>
                  <a:pt x="178594" y="185738"/>
                </a:lnTo>
                <a:lnTo>
                  <a:pt x="150019" y="185738"/>
                </a:lnTo>
                <a:lnTo>
                  <a:pt x="150019" y="92869"/>
                </a:lnTo>
                <a:lnTo>
                  <a:pt x="178594" y="92869"/>
                </a:lnTo>
                <a:close/>
                <a:moveTo>
                  <a:pt x="128588" y="92869"/>
                </a:moveTo>
                <a:lnTo>
                  <a:pt x="128588" y="185738"/>
                </a:lnTo>
                <a:lnTo>
                  <a:pt x="100013" y="185738"/>
                </a:lnTo>
                <a:lnTo>
                  <a:pt x="100013" y="92869"/>
                </a:lnTo>
                <a:lnTo>
                  <a:pt x="128588" y="92869"/>
                </a:lnTo>
                <a:close/>
                <a:moveTo>
                  <a:pt x="78581" y="92869"/>
                </a:moveTo>
                <a:lnTo>
                  <a:pt x="78581" y="185738"/>
                </a:lnTo>
                <a:lnTo>
                  <a:pt x="50006" y="185738"/>
                </a:lnTo>
                <a:lnTo>
                  <a:pt x="50006" y="92869"/>
                </a:lnTo>
                <a:lnTo>
                  <a:pt x="78581" y="92869"/>
                </a:lnTo>
                <a:close/>
                <a:moveTo>
                  <a:pt x="114300" y="42863"/>
                </a:moveTo>
                <a:cubicBezTo>
                  <a:pt x="122185" y="42863"/>
                  <a:pt x="128588" y="49265"/>
                  <a:pt x="128588" y="57150"/>
                </a:cubicBezTo>
                <a:cubicBezTo>
                  <a:pt x="128588" y="65035"/>
                  <a:pt x="122185" y="71438"/>
                  <a:pt x="114300" y="71438"/>
                </a:cubicBezTo>
                <a:cubicBezTo>
                  <a:pt x="106415" y="71438"/>
                  <a:pt x="100013" y="65035"/>
                  <a:pt x="100013" y="57150"/>
                </a:cubicBezTo>
                <a:cubicBezTo>
                  <a:pt x="100013" y="49265"/>
                  <a:pt x="106415" y="42863"/>
                  <a:pt x="114300" y="42863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997700" y="2216151"/>
            <a:ext cx="1590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Banco Central do Brasil</a:t>
            </a:r>
            <a:endParaRPr sz="1600" b="0" i="0" u="none" strike="noStrike" cap="none"/>
          </a:p>
        </p:txBody>
      </p:sp>
      <p:sp>
        <p:nvSpPr>
          <p:cNvPr id="120" name="Google Shape;120;p7"/>
          <p:cNvSpPr/>
          <p:nvPr/>
        </p:nvSpPr>
        <p:spPr>
          <a:xfrm>
            <a:off x="6997700" y="2444751"/>
            <a:ext cx="1581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 Oficial de Cotações</a:t>
            </a:r>
            <a:endParaRPr sz="1600" b="0" i="0" u="none" strike="noStrike" cap="none"/>
          </a:p>
        </p:txBody>
      </p:sp>
      <p:sp>
        <p:nvSpPr>
          <p:cNvPr id="121" name="Google Shape;121;p7"/>
          <p:cNvSpPr/>
          <p:nvPr/>
        </p:nvSpPr>
        <p:spPr>
          <a:xfrm>
            <a:off x="6464300" y="309245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 extrusionOk="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688138" y="3054351"/>
            <a:ext cx="2695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Dados obtidos automaticamente via API REST</a:t>
            </a:r>
            <a:endParaRPr sz="1600" b="0" i="0" u="none" strike="noStrike" cap="none"/>
          </a:p>
        </p:txBody>
      </p:sp>
      <p:sp>
        <p:nvSpPr>
          <p:cNvPr id="123" name="Google Shape;123;p7"/>
          <p:cNvSpPr/>
          <p:nvPr/>
        </p:nvSpPr>
        <p:spPr>
          <a:xfrm>
            <a:off x="6464300" y="335915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 extrusionOk="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688138" y="3321051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Cotações atualizadas diariamente pelo BC</a:t>
            </a:r>
            <a:endParaRPr sz="1600" b="0" i="0" u="none" strike="noStrike" cap="none"/>
          </a:p>
        </p:txBody>
      </p:sp>
      <p:sp>
        <p:nvSpPr>
          <p:cNvPr id="125" name="Google Shape;125;p7"/>
          <p:cNvSpPr/>
          <p:nvPr/>
        </p:nvSpPr>
        <p:spPr>
          <a:xfrm>
            <a:off x="6464300" y="362585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 extrusionOk="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688138" y="3587751"/>
            <a:ext cx="21812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Taxas de câmbio oficiais e confiáveis</a:t>
            </a:r>
            <a:endParaRPr sz="1600" b="0" i="0" u="none" strike="noStrike" cap="none"/>
          </a:p>
        </p:txBody>
      </p:sp>
      <p:sp>
        <p:nvSpPr>
          <p:cNvPr id="127" name="Google Shape;127;p7"/>
          <p:cNvSpPr/>
          <p:nvPr/>
        </p:nvSpPr>
        <p:spPr>
          <a:xfrm>
            <a:off x="6464300" y="389255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 extrusionOk="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688138" y="3854451"/>
            <a:ext cx="2028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necessidade de chave de API</a:t>
            </a:r>
            <a:endParaRPr sz="1600" b="0" i="0" u="none" strike="noStrike" cap="none"/>
          </a:p>
        </p:txBody>
      </p:sp>
      <p:sp>
        <p:nvSpPr>
          <p:cNvPr id="129" name="Google Shape;129;p7"/>
          <p:cNvSpPr/>
          <p:nvPr/>
        </p:nvSpPr>
        <p:spPr>
          <a:xfrm>
            <a:off x="6229350" y="5378451"/>
            <a:ext cx="5581650" cy="1028700"/>
          </a:xfrm>
          <a:custGeom>
            <a:avLst/>
            <a:gdLst/>
            <a:ahLst/>
            <a:cxnLst/>
            <a:rect l="l" t="t" r="r" b="b"/>
            <a:pathLst>
              <a:path w="5581650" h="1028700" extrusionOk="0">
                <a:moveTo>
                  <a:pt x="38100" y="0"/>
                </a:moveTo>
                <a:lnTo>
                  <a:pt x="5467351" y="0"/>
                </a:lnTo>
                <a:cubicBezTo>
                  <a:pt x="5530477" y="0"/>
                  <a:pt x="5581650" y="51173"/>
                  <a:pt x="5581650" y="114299"/>
                </a:cubicBezTo>
                <a:lnTo>
                  <a:pt x="5581650" y="914401"/>
                </a:lnTo>
                <a:cubicBezTo>
                  <a:pt x="5581650" y="977527"/>
                  <a:pt x="5530477" y="1028700"/>
                  <a:pt x="5467351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A5003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229350" y="5378451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 extrusionOk="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457950" y="556895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 extrusionOk="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734572" y="5568951"/>
            <a:ext cx="49625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Dica</a:t>
            </a:r>
            <a:endParaRPr sz="1600" b="0" i="0" u="none" strike="noStrike" cap="none"/>
          </a:p>
        </p:txBody>
      </p:sp>
      <p:sp>
        <p:nvSpPr>
          <p:cNvPr id="133" name="Google Shape;133;p7"/>
          <p:cNvSpPr/>
          <p:nvPr/>
        </p:nvSpPr>
        <p:spPr>
          <a:xfrm>
            <a:off x="6734572" y="5835651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API do Banco Central fornece dados históricos e em tempo real, ideal para automações financeiras confiáveis.</a:t>
            </a:r>
            <a:endParaRPr sz="1600" b="0" i="0" u="none" strike="noStrike" cap="none"/>
          </a:p>
        </p:txBody>
      </p:sp>
      <p:sp>
        <p:nvSpPr>
          <p:cNvPr id="134" name="Google Shape;134;p7"/>
          <p:cNvSpPr/>
          <p:nvPr/>
        </p:nvSpPr>
        <p:spPr>
          <a:xfrm>
            <a:off x="383381" y="6588126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 extrusionOk="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23888" y="6559551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Projeto RPA – Monitoramento de Cotações</a:t>
            </a:r>
            <a:endParaRPr sz="1600" b="0" i="0" u="none" strike="noStrike" cap="none"/>
          </a:p>
        </p:txBody>
      </p:sp>
      <p:sp>
        <p:nvSpPr>
          <p:cNvPr id="136" name="Google Shape;136;p7"/>
          <p:cNvSpPr/>
          <p:nvPr/>
        </p:nvSpPr>
        <p:spPr>
          <a:xfrm>
            <a:off x="11333659" y="6559551"/>
            <a:ext cx="304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4/12</a:t>
            </a:r>
            <a:endParaRPr sz="1600" b="0" i="0" u="none" strike="noStrike" cap="none"/>
          </a:p>
        </p:txBody>
      </p:sp>
      <p:sp>
        <p:nvSpPr>
          <p:cNvPr id="137" name="Google Shape;137;p7"/>
          <p:cNvSpPr/>
          <p:nvPr/>
        </p:nvSpPr>
        <p:spPr>
          <a:xfrm>
            <a:off x="11680031" y="658812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 extrusionOk="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 extrusionOk="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144" name="Google Shape;144;p8"/>
          <p:cNvSpPr/>
          <p:nvPr/>
        </p:nvSpPr>
        <p:spPr>
          <a:xfrm>
            <a:off x="876300" y="381000"/>
            <a:ext cx="781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50034"/>
                </a:solidFill>
                <a:latin typeface="Liter"/>
                <a:ea typeface="Liter"/>
                <a:cs typeface="Liter"/>
                <a:sym typeface="Liter"/>
              </a:rPr>
              <a:t>Seção 01</a:t>
            </a:r>
            <a:endParaRPr sz="1600" b="0" i="0" u="none" strike="noStrike" cap="none"/>
          </a:p>
        </p:txBody>
      </p:sp>
      <p:sp>
        <p:nvSpPr>
          <p:cNvPr id="145" name="Google Shape;145;p8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Estrutura do Projeto</a:t>
            </a:r>
            <a:endParaRPr sz="1600" b="0" i="0" u="none" strike="noStrike" cap="none"/>
          </a:p>
        </p:txBody>
      </p:sp>
      <p:sp>
        <p:nvSpPr>
          <p:cNvPr id="146" name="Google Shape;146;p8"/>
          <p:cNvSpPr/>
          <p:nvPr/>
        </p:nvSpPr>
        <p:spPr>
          <a:xfrm>
            <a:off x="384175" y="1260475"/>
            <a:ext cx="4454525" cy="2797175"/>
          </a:xfrm>
          <a:custGeom>
            <a:avLst/>
            <a:gdLst/>
            <a:ahLst/>
            <a:cxnLst/>
            <a:rect l="l" t="t" r="r" b="b"/>
            <a:pathLst>
              <a:path w="4454525" h="2797175" extrusionOk="0">
                <a:moveTo>
                  <a:pt x="114293" y="0"/>
                </a:moveTo>
                <a:lnTo>
                  <a:pt x="4340232" y="0"/>
                </a:lnTo>
                <a:cubicBezTo>
                  <a:pt x="4403354" y="0"/>
                  <a:pt x="4454525" y="51171"/>
                  <a:pt x="4454525" y="114293"/>
                </a:cubicBezTo>
                <a:lnTo>
                  <a:pt x="4454525" y="2682882"/>
                </a:lnTo>
                <a:cubicBezTo>
                  <a:pt x="4454525" y="2746004"/>
                  <a:pt x="4403354" y="2797175"/>
                  <a:pt x="4340232" y="2797175"/>
                </a:cubicBezTo>
                <a:lnTo>
                  <a:pt x="114293" y="2797175"/>
                </a:lnTo>
                <a:cubicBezTo>
                  <a:pt x="51171" y="2797175"/>
                  <a:pt x="0" y="2746004"/>
                  <a:pt x="0" y="26828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D2D2D"/>
          </a:soli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590947" y="1501776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 extrusionOk="0">
                <a:moveTo>
                  <a:pt x="16073" y="8037"/>
                </a:moveTo>
                <a:cubicBezTo>
                  <a:pt x="16073" y="3583"/>
                  <a:pt x="12490" y="0"/>
                  <a:pt x="8037" y="0"/>
                </a:cubicBezTo>
                <a:cubicBezTo>
                  <a:pt x="3583" y="0"/>
                  <a:pt x="0" y="3583"/>
                  <a:pt x="0" y="8037"/>
                </a:cubicBezTo>
                <a:lnTo>
                  <a:pt x="0" y="131266"/>
                </a:lnTo>
                <a:cubicBezTo>
                  <a:pt x="0" y="141614"/>
                  <a:pt x="8405" y="150019"/>
                  <a:pt x="18752" y="150019"/>
                </a:cubicBezTo>
                <a:lnTo>
                  <a:pt x="80367" y="150019"/>
                </a:lnTo>
                <a:lnTo>
                  <a:pt x="80367" y="133945"/>
                </a:lnTo>
                <a:lnTo>
                  <a:pt x="18752" y="133945"/>
                </a:lnTo>
                <a:cubicBezTo>
                  <a:pt x="17279" y="133945"/>
                  <a:pt x="16073" y="132740"/>
                  <a:pt x="16073" y="131266"/>
                </a:cubicBezTo>
                <a:lnTo>
                  <a:pt x="16073" y="53578"/>
                </a:lnTo>
                <a:lnTo>
                  <a:pt x="80367" y="53578"/>
                </a:lnTo>
                <a:lnTo>
                  <a:pt x="80367" y="37505"/>
                </a:lnTo>
                <a:lnTo>
                  <a:pt x="16073" y="37505"/>
                </a:lnTo>
                <a:lnTo>
                  <a:pt x="16073" y="8037"/>
                </a:lnTo>
                <a:close/>
                <a:moveTo>
                  <a:pt x="112514" y="75009"/>
                </a:moveTo>
                <a:lnTo>
                  <a:pt x="176808" y="75009"/>
                </a:lnTo>
                <a:cubicBezTo>
                  <a:pt x="185682" y="75009"/>
                  <a:pt x="192881" y="67810"/>
                  <a:pt x="192881" y="58936"/>
                </a:cubicBezTo>
                <a:lnTo>
                  <a:pt x="192881" y="26789"/>
                </a:lnTo>
                <a:cubicBezTo>
                  <a:pt x="192881" y="17915"/>
                  <a:pt x="185682" y="10716"/>
                  <a:pt x="176808" y="10716"/>
                </a:cubicBezTo>
                <a:lnTo>
                  <a:pt x="149115" y="10716"/>
                </a:lnTo>
                <a:cubicBezTo>
                  <a:pt x="146268" y="10716"/>
                  <a:pt x="143556" y="9577"/>
                  <a:pt x="141547" y="7568"/>
                </a:cubicBezTo>
                <a:lnTo>
                  <a:pt x="138667" y="4688"/>
                </a:lnTo>
                <a:cubicBezTo>
                  <a:pt x="135653" y="1674"/>
                  <a:pt x="131568" y="-33"/>
                  <a:pt x="127315" y="-33"/>
                </a:cubicBezTo>
                <a:lnTo>
                  <a:pt x="112514" y="0"/>
                </a:lnTo>
                <a:cubicBezTo>
                  <a:pt x="103640" y="0"/>
                  <a:pt x="96441" y="7200"/>
                  <a:pt x="96441" y="16073"/>
                </a:cubicBezTo>
                <a:lnTo>
                  <a:pt x="96441" y="58936"/>
                </a:lnTo>
                <a:cubicBezTo>
                  <a:pt x="96441" y="67810"/>
                  <a:pt x="103640" y="75009"/>
                  <a:pt x="112514" y="75009"/>
                </a:cubicBezTo>
                <a:close/>
                <a:moveTo>
                  <a:pt x="112514" y="171450"/>
                </a:moveTo>
                <a:lnTo>
                  <a:pt x="176808" y="171450"/>
                </a:lnTo>
                <a:cubicBezTo>
                  <a:pt x="185682" y="171450"/>
                  <a:pt x="192881" y="164250"/>
                  <a:pt x="192881" y="155377"/>
                </a:cubicBezTo>
                <a:lnTo>
                  <a:pt x="192881" y="123230"/>
                </a:lnTo>
                <a:cubicBezTo>
                  <a:pt x="192881" y="114356"/>
                  <a:pt x="185682" y="107156"/>
                  <a:pt x="176808" y="107156"/>
                </a:cubicBezTo>
                <a:lnTo>
                  <a:pt x="149115" y="107156"/>
                </a:lnTo>
                <a:cubicBezTo>
                  <a:pt x="146268" y="107156"/>
                  <a:pt x="143556" y="106018"/>
                  <a:pt x="141547" y="104009"/>
                </a:cubicBezTo>
                <a:lnTo>
                  <a:pt x="138667" y="101129"/>
                </a:lnTo>
                <a:cubicBezTo>
                  <a:pt x="135653" y="98115"/>
                  <a:pt x="131568" y="96407"/>
                  <a:pt x="127315" y="96407"/>
                </a:cubicBezTo>
                <a:lnTo>
                  <a:pt x="112514" y="96441"/>
                </a:lnTo>
                <a:cubicBezTo>
                  <a:pt x="103640" y="96441"/>
                  <a:pt x="96441" y="103640"/>
                  <a:pt x="96441" y="112514"/>
                </a:cubicBezTo>
                <a:lnTo>
                  <a:pt x="96441" y="155377"/>
                </a:lnTo>
                <a:cubicBezTo>
                  <a:pt x="96441" y="164250"/>
                  <a:pt x="103640" y="171450"/>
                  <a:pt x="112514" y="17145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796925" y="1454151"/>
            <a:ext cx="393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Organização de Pastas</a:t>
            </a:r>
            <a:endParaRPr sz="1600" b="0" i="0" u="none" strike="noStrike" cap="none"/>
          </a:p>
        </p:txBody>
      </p:sp>
      <p:sp>
        <p:nvSpPr>
          <p:cNvPr id="149" name="Google Shape;149;p8"/>
          <p:cNvSpPr/>
          <p:nvPr/>
        </p:nvSpPr>
        <p:spPr>
          <a:xfrm>
            <a:off x="577850" y="1873251"/>
            <a:ext cx="4067175" cy="342900"/>
          </a:xfrm>
          <a:custGeom>
            <a:avLst/>
            <a:gdLst/>
            <a:ahLst/>
            <a:cxnLst/>
            <a:rect l="l" t="t" r="r" b="b"/>
            <a:pathLst>
              <a:path w="4067175" h="342900" extrusionOk="0">
                <a:moveTo>
                  <a:pt x="76199" y="0"/>
                </a:moveTo>
                <a:lnTo>
                  <a:pt x="3990976" y="0"/>
                </a:lnTo>
                <a:cubicBezTo>
                  <a:pt x="4033059" y="0"/>
                  <a:pt x="4067175" y="34116"/>
                  <a:pt x="4067175" y="76199"/>
                </a:cubicBezTo>
                <a:lnTo>
                  <a:pt x="4067175" y="266701"/>
                </a:lnTo>
                <a:cubicBezTo>
                  <a:pt x="4067175" y="308784"/>
                  <a:pt x="4033059" y="342900"/>
                  <a:pt x="39909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73100" y="197802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 extrusionOk="0">
                <a:moveTo>
                  <a:pt x="16669" y="116681"/>
                </a:move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37505"/>
                </a:lnTo>
                <a:cubicBezTo>
                  <a:pt x="133350" y="28311"/>
                  <a:pt x="125875" y="20836"/>
                  <a:pt x="116681" y="20836"/>
                </a:cubicBezTo>
                <a:lnTo>
                  <a:pt x="77796" y="20836"/>
                </a:lnTo>
                <a:cubicBezTo>
                  <a:pt x="75999" y="20836"/>
                  <a:pt x="74228" y="20263"/>
                  <a:pt x="72796" y="19169"/>
                </a:cubicBezTo>
                <a:lnTo>
                  <a:pt x="62794" y="11668"/>
                </a:lnTo>
                <a:cubicBezTo>
                  <a:pt x="59903" y="9506"/>
                  <a:pt x="56387" y="8334"/>
                  <a:pt x="52793" y="8334"/>
                </a:cubicBezTo>
                <a:lnTo>
                  <a:pt x="16669" y="8334"/>
                </a:lnTo>
                <a:cubicBezTo>
                  <a:pt x="7475" y="8334"/>
                  <a:pt x="0" y="15809"/>
                  <a:pt x="0" y="25003"/>
                </a:cubicBez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close/>
              </a:path>
            </a:pathLst>
          </a:custGeom>
          <a:solidFill>
            <a:srgbClr val="F0B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896938" y="1949451"/>
            <a:ext cx="361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src/</a:t>
            </a:r>
            <a:endParaRPr sz="1600" b="0" i="0" u="none" strike="noStrike" cap="none"/>
          </a:p>
        </p:txBody>
      </p:sp>
      <p:sp>
        <p:nvSpPr>
          <p:cNvPr id="152" name="Google Shape;152;p8"/>
          <p:cNvSpPr/>
          <p:nvPr/>
        </p:nvSpPr>
        <p:spPr>
          <a:xfrm>
            <a:off x="1266428" y="1949451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Código-fonte Python</a:t>
            </a:r>
            <a:endParaRPr sz="1600" b="0" i="0" u="none" strike="noStrike" cap="none"/>
          </a:p>
        </p:txBody>
      </p:sp>
      <p:sp>
        <p:nvSpPr>
          <p:cNvPr id="153" name="Google Shape;153;p8"/>
          <p:cNvSpPr/>
          <p:nvPr/>
        </p:nvSpPr>
        <p:spPr>
          <a:xfrm>
            <a:off x="577850" y="2292351"/>
            <a:ext cx="4067175" cy="342900"/>
          </a:xfrm>
          <a:custGeom>
            <a:avLst/>
            <a:gdLst/>
            <a:ahLst/>
            <a:cxnLst/>
            <a:rect l="l" t="t" r="r" b="b"/>
            <a:pathLst>
              <a:path w="4067175" h="342900" extrusionOk="0">
                <a:moveTo>
                  <a:pt x="76199" y="0"/>
                </a:moveTo>
                <a:lnTo>
                  <a:pt x="3990976" y="0"/>
                </a:lnTo>
                <a:cubicBezTo>
                  <a:pt x="4033059" y="0"/>
                  <a:pt x="4067175" y="34116"/>
                  <a:pt x="4067175" y="76199"/>
                </a:cubicBezTo>
                <a:lnTo>
                  <a:pt x="4067175" y="266701"/>
                </a:lnTo>
                <a:cubicBezTo>
                  <a:pt x="4067175" y="308784"/>
                  <a:pt x="4033059" y="342900"/>
                  <a:pt x="39909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673100" y="239712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 extrusionOk="0">
                <a:moveTo>
                  <a:pt x="16669" y="116681"/>
                </a:move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37505"/>
                </a:lnTo>
                <a:cubicBezTo>
                  <a:pt x="133350" y="28311"/>
                  <a:pt x="125875" y="20836"/>
                  <a:pt x="116681" y="20836"/>
                </a:cubicBezTo>
                <a:lnTo>
                  <a:pt x="77796" y="20836"/>
                </a:lnTo>
                <a:cubicBezTo>
                  <a:pt x="75999" y="20836"/>
                  <a:pt x="74228" y="20263"/>
                  <a:pt x="72796" y="19169"/>
                </a:cubicBezTo>
                <a:lnTo>
                  <a:pt x="62794" y="11668"/>
                </a:lnTo>
                <a:cubicBezTo>
                  <a:pt x="59903" y="9506"/>
                  <a:pt x="56387" y="8334"/>
                  <a:pt x="52793" y="8334"/>
                </a:cubicBezTo>
                <a:lnTo>
                  <a:pt x="16669" y="8334"/>
                </a:lnTo>
                <a:cubicBezTo>
                  <a:pt x="7475" y="8334"/>
                  <a:pt x="0" y="15809"/>
                  <a:pt x="0" y="25003"/>
                </a:cubicBez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896938" y="2368551"/>
            <a:ext cx="723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Database/</a:t>
            </a:r>
            <a:endParaRPr sz="1600" b="0" i="0" u="none" strike="noStrike" cap="none"/>
          </a:p>
        </p:txBody>
      </p:sp>
      <p:sp>
        <p:nvSpPr>
          <p:cNvPr id="156" name="Google Shape;156;p8"/>
          <p:cNvSpPr/>
          <p:nvPr/>
        </p:nvSpPr>
        <p:spPr>
          <a:xfrm>
            <a:off x="1633041" y="2368551"/>
            <a:ext cx="9620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Arquivo Excel</a:t>
            </a:r>
            <a:endParaRPr sz="1600" b="0" i="0" u="none" strike="noStrike" cap="none"/>
          </a:p>
        </p:txBody>
      </p:sp>
      <p:sp>
        <p:nvSpPr>
          <p:cNvPr id="157" name="Google Shape;157;p8"/>
          <p:cNvSpPr/>
          <p:nvPr/>
        </p:nvSpPr>
        <p:spPr>
          <a:xfrm>
            <a:off x="577850" y="2711451"/>
            <a:ext cx="4067175" cy="342900"/>
          </a:xfrm>
          <a:custGeom>
            <a:avLst/>
            <a:gdLst/>
            <a:ahLst/>
            <a:cxnLst/>
            <a:rect l="l" t="t" r="r" b="b"/>
            <a:pathLst>
              <a:path w="4067175" h="342900" extrusionOk="0">
                <a:moveTo>
                  <a:pt x="76199" y="0"/>
                </a:moveTo>
                <a:lnTo>
                  <a:pt x="3990976" y="0"/>
                </a:lnTo>
                <a:cubicBezTo>
                  <a:pt x="4033059" y="0"/>
                  <a:pt x="4067175" y="34116"/>
                  <a:pt x="4067175" y="76199"/>
                </a:cubicBezTo>
                <a:lnTo>
                  <a:pt x="4067175" y="266701"/>
                </a:lnTo>
                <a:cubicBezTo>
                  <a:pt x="4067175" y="308784"/>
                  <a:pt x="4033059" y="342900"/>
                  <a:pt x="39909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689769" y="281622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 extrusionOk="0">
                <a:moveTo>
                  <a:pt x="16669" y="0"/>
                </a:moveTo>
                <a:cubicBezTo>
                  <a:pt x="7475" y="0"/>
                  <a:pt x="0" y="7475"/>
                  <a:pt x="0" y="16669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83344" y="133350"/>
                </a:lnTo>
                <a:cubicBezTo>
                  <a:pt x="92538" y="133350"/>
                  <a:pt x="100013" y="125875"/>
                  <a:pt x="100013" y="116681"/>
                </a:cubicBezTo>
                <a:lnTo>
                  <a:pt x="100013" y="44407"/>
                </a:lnTo>
                <a:cubicBezTo>
                  <a:pt x="100013" y="39979"/>
                  <a:pt x="98267" y="35734"/>
                  <a:pt x="95142" y="32608"/>
                </a:cubicBezTo>
                <a:lnTo>
                  <a:pt x="67378" y="4870"/>
                </a:lnTo>
                <a:cubicBezTo>
                  <a:pt x="64253" y="1745"/>
                  <a:pt x="60034" y="0"/>
                  <a:pt x="55606" y="0"/>
                </a:cubicBezTo>
                <a:lnTo>
                  <a:pt x="16669" y="0"/>
                </a:lnTo>
                <a:close/>
                <a:moveTo>
                  <a:pt x="84776" y="45839"/>
                </a:moveTo>
                <a:lnTo>
                  <a:pt x="60424" y="45839"/>
                </a:lnTo>
                <a:cubicBezTo>
                  <a:pt x="56960" y="45839"/>
                  <a:pt x="54173" y="43052"/>
                  <a:pt x="54173" y="39588"/>
                </a:cubicBezTo>
                <a:lnTo>
                  <a:pt x="54173" y="15236"/>
                </a:lnTo>
                <a:lnTo>
                  <a:pt x="84776" y="45839"/>
                </a:lnTo>
                <a:close/>
              </a:path>
            </a:pathLst>
          </a:custGeom>
          <a:solidFill>
            <a:srgbClr val="51A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896938" y="2787651"/>
            <a:ext cx="1238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requirements.txt</a:t>
            </a:r>
            <a:endParaRPr sz="1600" b="0" i="0" u="none" strike="noStrike" cap="none"/>
          </a:p>
        </p:txBody>
      </p:sp>
      <p:sp>
        <p:nvSpPr>
          <p:cNvPr id="160" name="Google Shape;160;p8"/>
          <p:cNvSpPr/>
          <p:nvPr/>
        </p:nvSpPr>
        <p:spPr>
          <a:xfrm>
            <a:off x="577850" y="3130551"/>
            <a:ext cx="4067175" cy="342900"/>
          </a:xfrm>
          <a:custGeom>
            <a:avLst/>
            <a:gdLst/>
            <a:ahLst/>
            <a:cxnLst/>
            <a:rect l="l" t="t" r="r" b="b"/>
            <a:pathLst>
              <a:path w="4067175" h="342900" extrusionOk="0">
                <a:moveTo>
                  <a:pt x="76199" y="0"/>
                </a:moveTo>
                <a:lnTo>
                  <a:pt x="3990976" y="0"/>
                </a:lnTo>
                <a:cubicBezTo>
                  <a:pt x="4033059" y="0"/>
                  <a:pt x="4067175" y="34116"/>
                  <a:pt x="4067175" y="76199"/>
                </a:cubicBezTo>
                <a:lnTo>
                  <a:pt x="4067175" y="266701"/>
                </a:lnTo>
                <a:cubicBezTo>
                  <a:pt x="4067175" y="308784"/>
                  <a:pt x="4033059" y="342900"/>
                  <a:pt x="39909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89769" y="323532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 extrusionOk="0">
                <a:moveTo>
                  <a:pt x="16669" y="0"/>
                </a:moveTo>
                <a:cubicBezTo>
                  <a:pt x="7475" y="0"/>
                  <a:pt x="0" y="7475"/>
                  <a:pt x="0" y="16669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83344" y="133350"/>
                </a:lnTo>
                <a:cubicBezTo>
                  <a:pt x="92538" y="133350"/>
                  <a:pt x="100013" y="125875"/>
                  <a:pt x="100013" y="116681"/>
                </a:cubicBezTo>
                <a:lnTo>
                  <a:pt x="100013" y="44407"/>
                </a:lnTo>
                <a:cubicBezTo>
                  <a:pt x="100013" y="39979"/>
                  <a:pt x="98267" y="35734"/>
                  <a:pt x="95142" y="32608"/>
                </a:cubicBezTo>
                <a:lnTo>
                  <a:pt x="67378" y="4870"/>
                </a:lnTo>
                <a:cubicBezTo>
                  <a:pt x="64253" y="1745"/>
                  <a:pt x="60034" y="0"/>
                  <a:pt x="55606" y="0"/>
                </a:cubicBezTo>
                <a:lnTo>
                  <a:pt x="16669" y="0"/>
                </a:lnTo>
                <a:close/>
                <a:moveTo>
                  <a:pt x="84776" y="45839"/>
                </a:moveTo>
                <a:lnTo>
                  <a:pt x="60424" y="45839"/>
                </a:lnTo>
                <a:cubicBezTo>
                  <a:pt x="56960" y="45839"/>
                  <a:pt x="54173" y="43052"/>
                  <a:pt x="54173" y="39588"/>
                </a:cubicBezTo>
                <a:lnTo>
                  <a:pt x="54173" y="15236"/>
                </a:lnTo>
                <a:lnTo>
                  <a:pt x="84776" y="45839"/>
                </a:lnTo>
                <a:close/>
              </a:path>
            </a:pathLst>
          </a:custGeom>
          <a:solidFill>
            <a:srgbClr val="C27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896938" y="3206751"/>
            <a:ext cx="5810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run.bat</a:t>
            </a:r>
            <a:endParaRPr sz="1600" b="0" i="0" u="none" strike="noStrike" cap="none"/>
          </a:p>
        </p:txBody>
      </p:sp>
      <p:sp>
        <p:nvSpPr>
          <p:cNvPr id="163" name="Google Shape;163;p8"/>
          <p:cNvSpPr/>
          <p:nvPr/>
        </p:nvSpPr>
        <p:spPr>
          <a:xfrm>
            <a:off x="1486396" y="3206751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Script de execução</a:t>
            </a:r>
            <a:endParaRPr sz="1600" b="0" i="0" u="none" strike="noStrike" cap="none"/>
          </a:p>
        </p:txBody>
      </p:sp>
      <p:sp>
        <p:nvSpPr>
          <p:cNvPr id="164" name="Google Shape;164;p8"/>
          <p:cNvSpPr/>
          <p:nvPr/>
        </p:nvSpPr>
        <p:spPr>
          <a:xfrm>
            <a:off x="384175" y="4219576"/>
            <a:ext cx="4454525" cy="1911350"/>
          </a:xfrm>
          <a:custGeom>
            <a:avLst/>
            <a:gdLst/>
            <a:ahLst/>
            <a:cxnLst/>
            <a:rect l="l" t="t" r="r" b="b"/>
            <a:pathLst>
              <a:path w="4454525" h="1911350" extrusionOk="0">
                <a:moveTo>
                  <a:pt x="114299" y="0"/>
                </a:moveTo>
                <a:lnTo>
                  <a:pt x="4340226" y="0"/>
                </a:lnTo>
                <a:cubicBezTo>
                  <a:pt x="4403352" y="0"/>
                  <a:pt x="4454525" y="51173"/>
                  <a:pt x="4454525" y="114299"/>
                </a:cubicBezTo>
                <a:lnTo>
                  <a:pt x="4454525" y="1797051"/>
                </a:lnTo>
                <a:cubicBezTo>
                  <a:pt x="4454525" y="1860177"/>
                  <a:pt x="4403352" y="1911350"/>
                  <a:pt x="4340226" y="1911350"/>
                </a:cubicBezTo>
                <a:lnTo>
                  <a:pt x="114299" y="1911350"/>
                </a:lnTo>
                <a:cubicBezTo>
                  <a:pt x="51173" y="1911350"/>
                  <a:pt x="0" y="1860177"/>
                  <a:pt x="0" y="1797051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>
            <a:gsLst>
              <a:gs pos="0">
                <a:srgbClr val="A50034">
                  <a:alpha val="20000"/>
                </a:srgbClr>
              </a:gs>
              <a:gs pos="100000">
                <a:srgbClr val="2D2D2D"/>
              </a:gs>
            </a:gsLst>
            <a:lin ang="2700000" scaled="0"/>
          </a:gradFill>
          <a:ln w="9525" cap="flat" cmpd="sng">
            <a:solidFill>
              <a:srgbClr val="A50034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623094" y="4460877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 extrusionOk="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54918" y="89308"/>
                </a:moveTo>
                <a:cubicBezTo>
                  <a:pt x="52440" y="85625"/>
                  <a:pt x="47450" y="84620"/>
                  <a:pt x="43767" y="87064"/>
                </a:cubicBezTo>
                <a:cubicBezTo>
                  <a:pt x="40083" y="89509"/>
                  <a:pt x="39079" y="94532"/>
                  <a:pt x="41523" y="98215"/>
                </a:cubicBezTo>
                <a:lnTo>
                  <a:pt x="54650" y="117872"/>
                </a:lnTo>
                <a:lnTo>
                  <a:pt x="41523" y="137528"/>
                </a:lnTo>
                <a:cubicBezTo>
                  <a:pt x="39045" y="141212"/>
                  <a:pt x="40050" y="146201"/>
                  <a:pt x="43767" y="148679"/>
                </a:cubicBezTo>
                <a:cubicBezTo>
                  <a:pt x="47484" y="151157"/>
                  <a:pt x="52440" y="150153"/>
                  <a:pt x="54918" y="146436"/>
                </a:cubicBezTo>
                <a:lnTo>
                  <a:pt x="64294" y="132371"/>
                </a:lnTo>
                <a:lnTo>
                  <a:pt x="73670" y="146436"/>
                </a:lnTo>
                <a:cubicBezTo>
                  <a:pt x="76148" y="150119"/>
                  <a:pt x="81137" y="151124"/>
                  <a:pt x="84821" y="148679"/>
                </a:cubicBezTo>
                <a:cubicBezTo>
                  <a:pt x="88504" y="146235"/>
                  <a:pt x="89509" y="141212"/>
                  <a:pt x="87064" y="137528"/>
                </a:cubicBezTo>
                <a:lnTo>
                  <a:pt x="73938" y="117872"/>
                </a:lnTo>
                <a:lnTo>
                  <a:pt x="87064" y="98215"/>
                </a:lnTo>
                <a:cubicBezTo>
                  <a:pt x="89542" y="94532"/>
                  <a:pt x="88538" y="89542"/>
                  <a:pt x="84821" y="87064"/>
                </a:cubicBezTo>
                <a:cubicBezTo>
                  <a:pt x="81104" y="84586"/>
                  <a:pt x="76148" y="85591"/>
                  <a:pt x="73670" y="89308"/>
                </a:cubicBezTo>
                <a:lnTo>
                  <a:pt x="64294" y="103372"/>
                </a:lnTo>
                <a:lnTo>
                  <a:pt x="54918" y="89308"/>
                </a:ln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796925" y="4413252"/>
            <a:ext cx="393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Arquivo Excel</a:t>
            </a:r>
            <a:endParaRPr sz="1600" b="0" i="0" u="none" strike="noStrike" cap="none"/>
          </a:p>
        </p:txBody>
      </p:sp>
      <p:sp>
        <p:nvSpPr>
          <p:cNvPr id="167" name="Google Shape;167;p8"/>
          <p:cNvSpPr/>
          <p:nvPr/>
        </p:nvSpPr>
        <p:spPr>
          <a:xfrm>
            <a:off x="577850" y="4794252"/>
            <a:ext cx="4067175" cy="609600"/>
          </a:xfrm>
          <a:custGeom>
            <a:avLst/>
            <a:gdLst/>
            <a:ahLst/>
            <a:cxnLst/>
            <a:rect l="l" t="t" r="r" b="b"/>
            <a:pathLst>
              <a:path w="4067175" h="609600" extrusionOk="0">
                <a:moveTo>
                  <a:pt x="76200" y="0"/>
                </a:moveTo>
                <a:lnTo>
                  <a:pt x="3990975" y="0"/>
                </a:lnTo>
                <a:cubicBezTo>
                  <a:pt x="4033031" y="0"/>
                  <a:pt x="4067175" y="34144"/>
                  <a:pt x="4067175" y="76200"/>
                </a:cubicBezTo>
                <a:lnTo>
                  <a:pt x="4067175" y="533400"/>
                </a:lnTo>
                <a:cubicBezTo>
                  <a:pt x="4067175" y="575456"/>
                  <a:pt x="4033031" y="609600"/>
                  <a:pt x="3990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92150" y="4908552"/>
            <a:ext cx="390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50034"/>
                </a:solidFill>
                <a:latin typeface="Arial"/>
                <a:ea typeface="Arial"/>
                <a:cs typeface="Arial"/>
                <a:sym typeface="Arial"/>
              </a:rPr>
              <a:t>Database/dados_dolar.xlsx</a:t>
            </a:r>
            <a:endParaRPr sz="1600" b="0" i="0" u="none" strike="noStrike" cap="none"/>
          </a:p>
        </p:txBody>
      </p:sp>
      <p:sp>
        <p:nvSpPr>
          <p:cNvPr id="169" name="Google Shape;169;p8"/>
          <p:cNvSpPr/>
          <p:nvPr/>
        </p:nvSpPr>
        <p:spPr>
          <a:xfrm>
            <a:off x="692150" y="5137152"/>
            <a:ext cx="3895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Histórico completo das cotações</a:t>
            </a:r>
            <a:endParaRPr sz="1600" b="0" i="0" u="none" strike="noStrike" cap="none"/>
          </a:p>
        </p:txBody>
      </p:sp>
      <p:sp>
        <p:nvSpPr>
          <p:cNvPr id="170" name="Google Shape;170;p8"/>
          <p:cNvSpPr/>
          <p:nvPr/>
        </p:nvSpPr>
        <p:spPr>
          <a:xfrm>
            <a:off x="605234" y="554672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820738" y="5518152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Formato .xlsx moderno</a:t>
            </a:r>
            <a:endParaRPr sz="1600" b="0" i="0" u="none" strike="noStrike" cap="none"/>
          </a:p>
        </p:txBody>
      </p:sp>
      <p:sp>
        <p:nvSpPr>
          <p:cNvPr id="172" name="Google Shape;172;p8"/>
          <p:cNvSpPr/>
          <p:nvPr/>
        </p:nvSpPr>
        <p:spPr>
          <a:xfrm>
            <a:off x="605234" y="577532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extrusionOk="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820738" y="5746752"/>
            <a:ext cx="1400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Atualização automática</a:t>
            </a:r>
            <a:endParaRPr sz="1600" b="0" i="0" u="none" strike="noStrike" cap="none"/>
          </a:p>
        </p:txBody>
      </p:sp>
      <p:sp>
        <p:nvSpPr>
          <p:cNvPr id="174" name="Google Shape;174;p8"/>
          <p:cNvSpPr/>
          <p:nvPr/>
        </p:nvSpPr>
        <p:spPr>
          <a:xfrm>
            <a:off x="5032375" y="1260475"/>
            <a:ext cx="6778625" cy="4873625"/>
          </a:xfrm>
          <a:custGeom>
            <a:avLst/>
            <a:gdLst/>
            <a:ahLst/>
            <a:cxnLst/>
            <a:rect l="l" t="t" r="r" b="b"/>
            <a:pathLst>
              <a:path w="6778625" h="4873625" extrusionOk="0">
                <a:moveTo>
                  <a:pt x="114287" y="0"/>
                </a:moveTo>
                <a:lnTo>
                  <a:pt x="6664338" y="0"/>
                </a:lnTo>
                <a:cubicBezTo>
                  <a:pt x="6727415" y="0"/>
                  <a:pt x="6778625" y="51210"/>
                  <a:pt x="6778625" y="114287"/>
                </a:cubicBezTo>
                <a:lnTo>
                  <a:pt x="6778625" y="4759338"/>
                </a:lnTo>
                <a:cubicBezTo>
                  <a:pt x="6778625" y="4822415"/>
                  <a:pt x="6727415" y="4873625"/>
                  <a:pt x="6664338" y="4873625"/>
                </a:cubicBezTo>
                <a:lnTo>
                  <a:pt x="114287" y="4873625"/>
                </a:lnTo>
                <a:cubicBezTo>
                  <a:pt x="51210" y="4873625"/>
                  <a:pt x="0" y="4822415"/>
                  <a:pt x="0" y="4759338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solidFill>
            <a:srgbClr val="2D2D2D"/>
          </a:soli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5260578" y="150177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 extrusionOk="0">
                <a:moveTo>
                  <a:pt x="85725" y="53578"/>
                </a:moveTo>
                <a:lnTo>
                  <a:pt x="85725" y="85725"/>
                </a:lnTo>
                <a:lnTo>
                  <a:pt x="128588" y="85725"/>
                </a:lnTo>
                <a:lnTo>
                  <a:pt x="128588" y="53578"/>
                </a:lnTo>
                <a:lnTo>
                  <a:pt x="85725" y="53578"/>
                </a:lnTo>
                <a:close/>
                <a:moveTo>
                  <a:pt x="64294" y="53578"/>
                </a:moveTo>
                <a:lnTo>
                  <a:pt x="21431" y="53578"/>
                </a:lnTo>
                <a:lnTo>
                  <a:pt x="21431" y="85725"/>
                </a:lnTo>
                <a:lnTo>
                  <a:pt x="64294" y="85725"/>
                </a:lnTo>
                <a:lnTo>
                  <a:pt x="64294" y="53578"/>
                </a:lnTo>
                <a:close/>
                <a:moveTo>
                  <a:pt x="0" y="107156"/>
                </a:move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107156"/>
                </a:lnTo>
                <a:close/>
                <a:moveTo>
                  <a:pt x="128588" y="107156"/>
                </a:moveTo>
                <a:lnTo>
                  <a:pt x="85725" y="107156"/>
                </a:lnTo>
                <a:lnTo>
                  <a:pt x="85725" y="139303"/>
                </a:lnTo>
                <a:lnTo>
                  <a:pt x="128588" y="139303"/>
                </a:lnTo>
                <a:lnTo>
                  <a:pt x="128588" y="107156"/>
                </a:lnTo>
                <a:close/>
                <a:moveTo>
                  <a:pt x="64294" y="139303"/>
                </a:moveTo>
                <a:lnTo>
                  <a:pt x="64294" y="107156"/>
                </a:lnTo>
                <a:lnTo>
                  <a:pt x="21431" y="107156"/>
                </a:lnTo>
                <a:lnTo>
                  <a:pt x="21431" y="139303"/>
                </a:lnTo>
                <a:lnTo>
                  <a:pt x="64294" y="139303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445125" y="1454151"/>
            <a:ext cx="62579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Estrutura da Tabela Excel</a:t>
            </a:r>
            <a:endParaRPr sz="1600" b="0" i="0" u="none" strike="noStrike" cap="none"/>
          </a:p>
        </p:txBody>
      </p:sp>
      <p:sp>
        <p:nvSpPr>
          <p:cNvPr id="177" name="Google Shape;177;p8"/>
          <p:cNvSpPr/>
          <p:nvPr/>
        </p:nvSpPr>
        <p:spPr>
          <a:xfrm>
            <a:off x="5226050" y="1873251"/>
            <a:ext cx="6391275" cy="2047875"/>
          </a:xfrm>
          <a:custGeom>
            <a:avLst/>
            <a:gdLst/>
            <a:ahLst/>
            <a:cxnLst/>
            <a:rect l="l" t="t" r="r" b="b"/>
            <a:pathLst>
              <a:path w="6391275" h="2047875" extrusionOk="0">
                <a:moveTo>
                  <a:pt x="76201" y="0"/>
                </a:moveTo>
                <a:lnTo>
                  <a:pt x="6315074" y="0"/>
                </a:lnTo>
                <a:cubicBezTo>
                  <a:pt x="6357130" y="0"/>
                  <a:pt x="6391275" y="34145"/>
                  <a:pt x="6391275" y="76201"/>
                </a:cubicBezTo>
                <a:lnTo>
                  <a:pt x="6391275" y="1971674"/>
                </a:lnTo>
                <a:cubicBezTo>
                  <a:pt x="6391275" y="2013730"/>
                  <a:pt x="6357130" y="2047875"/>
                  <a:pt x="6315074" y="2047875"/>
                </a:cubicBezTo>
                <a:lnTo>
                  <a:pt x="76201" y="2047875"/>
                </a:lnTo>
                <a:cubicBezTo>
                  <a:pt x="34145" y="2047875"/>
                  <a:pt x="0" y="2013730"/>
                  <a:pt x="0" y="1971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78" name="Google Shape;178;p8"/>
          <p:cNvGraphicFramePr/>
          <p:nvPr/>
        </p:nvGraphicFramePr>
        <p:xfrm>
          <a:off x="5378450" y="2025651"/>
          <a:ext cx="6086475" cy="1743125"/>
        </p:xfrm>
        <a:graphic>
          <a:graphicData uri="http://schemas.openxmlformats.org/drawingml/2006/table">
            <a:tbl>
              <a:tblPr>
                <a:noFill/>
                <a:tableStyleId>{C2E14374-11BD-4E62-830A-A27C3D0EEA9E}</a:tableStyleId>
              </a:tblPr>
              <a:tblGrid>
                <a:gridCol w="1095375"/>
                <a:gridCol w="1304925"/>
                <a:gridCol w="3686175"/>
              </a:tblGrid>
              <a:tr h="34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A5003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Coluna</a:t>
                      </a:r>
                      <a:endParaRPr sz="1000" u="none" strike="noStrike" cap="non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A6A6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A5003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Tipo</a:t>
                      </a:r>
                      <a:endParaRPr sz="1000" u="none" strike="noStrike" cap="non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A6A6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A5003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Descrição</a:t>
                      </a:r>
                      <a:endParaRPr sz="1000" u="none" strike="noStrike" cap="non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A6A6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Data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A6A6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0E0E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Date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A6A6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0E0E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Data da cotação (DD/MM/AAAA)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A6A6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Dólar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0E0E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Currency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0E0E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Valor do USD em BRL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Euro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0E0E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Currency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0E0E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Valor do EUR em BRL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Real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0E0E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Currency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E0E0E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Valor de referência (BRL)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9" name="Google Shape;179;p8"/>
          <p:cNvSpPr/>
          <p:nvPr/>
        </p:nvSpPr>
        <p:spPr>
          <a:xfrm>
            <a:off x="5245100" y="4070352"/>
            <a:ext cx="6372225" cy="952500"/>
          </a:xfrm>
          <a:custGeom>
            <a:avLst/>
            <a:gdLst/>
            <a:ahLst/>
            <a:cxnLst/>
            <a:rect l="l" t="t" r="r" b="b"/>
            <a:pathLst>
              <a:path w="6372225" h="952500" extrusionOk="0">
                <a:moveTo>
                  <a:pt x="38100" y="0"/>
                </a:moveTo>
                <a:lnTo>
                  <a:pt x="6296025" y="0"/>
                </a:lnTo>
                <a:cubicBezTo>
                  <a:pt x="6338081" y="0"/>
                  <a:pt x="6372225" y="34144"/>
                  <a:pt x="6372225" y="76200"/>
                </a:cubicBezTo>
                <a:lnTo>
                  <a:pt x="6372225" y="876300"/>
                </a:lnTo>
                <a:cubicBezTo>
                  <a:pt x="6372225" y="918356"/>
                  <a:pt x="6338081" y="952500"/>
                  <a:pt x="6296025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A5003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5245100" y="4070352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 extrusionOk="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407025" y="422275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 extrusionOk="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679480" y="4222752"/>
            <a:ext cx="5857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Informação</a:t>
            </a:r>
            <a:endParaRPr sz="1600" b="0" i="0" u="none" strike="noStrike" cap="none"/>
          </a:p>
        </p:txBody>
      </p:sp>
      <p:sp>
        <p:nvSpPr>
          <p:cNvPr id="183" name="Google Shape;183;p8"/>
          <p:cNvSpPr/>
          <p:nvPr/>
        </p:nvSpPr>
        <p:spPr>
          <a:xfrm>
            <a:off x="5679480" y="4489452"/>
            <a:ext cx="5848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primeira linha é formatada como cabeçalho com estilos visuais destacados. Novas linhas são adicionadas automaticamente ao final da planilha.</a:t>
            </a:r>
            <a:endParaRPr sz="1600" b="0" i="0" u="none" strike="noStrike" cap="none"/>
          </a:p>
        </p:txBody>
      </p:sp>
      <p:sp>
        <p:nvSpPr>
          <p:cNvPr id="184" name="Google Shape;184;p8"/>
          <p:cNvSpPr/>
          <p:nvPr/>
        </p:nvSpPr>
        <p:spPr>
          <a:xfrm>
            <a:off x="383381" y="63150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 extrusionOk="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623888" y="6286500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Projeto RPA – Monitoramento de Cotações</a:t>
            </a:r>
            <a:endParaRPr sz="1600" b="0" i="0" u="none" strike="noStrike" cap="none"/>
          </a:p>
        </p:txBody>
      </p:sp>
      <p:sp>
        <p:nvSpPr>
          <p:cNvPr id="186" name="Google Shape;186;p8"/>
          <p:cNvSpPr/>
          <p:nvPr/>
        </p:nvSpPr>
        <p:spPr>
          <a:xfrm>
            <a:off x="11329591" y="6286500"/>
            <a:ext cx="304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5/12</a:t>
            </a:r>
            <a:endParaRPr sz="1600" b="0" i="0" u="none" strike="noStrike" cap="none"/>
          </a:p>
        </p:txBody>
      </p:sp>
      <p:sp>
        <p:nvSpPr>
          <p:cNvPr id="187" name="Google Shape;187;p8"/>
          <p:cNvSpPr/>
          <p:nvPr/>
        </p:nvSpPr>
        <p:spPr>
          <a:xfrm>
            <a:off x="11680031" y="63150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 extrusionOk="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9" descr="https://kimi-web-img.moonshot.cn/img/www.rtgsolutionsgroup.com/3050ea004e1e9df73574e42b7eae15e9b780b9ad.jpg"/>
          <p:cNvPicPr preferRelativeResize="0"/>
          <p:nvPr/>
        </p:nvPicPr>
        <p:blipFill rotWithShape="1">
          <a:blip r:embed="rId3">
            <a:alphaModFix amt="25000"/>
          </a:blip>
          <a:srcRect l="9960" r="996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A1A"/>
              </a:gs>
              <a:gs pos="50000">
                <a:srgbClr val="1A1A1A">
                  <a:alpha val="94901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195" name="Google Shape;195;p9"/>
          <p:cNvSpPr/>
          <p:nvPr/>
        </p:nvSpPr>
        <p:spPr>
          <a:xfrm>
            <a:off x="381000" y="17335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extrusionOk="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295275" y="1733550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02</a:t>
            </a:r>
            <a:endParaRPr sz="1600" b="0" i="0" u="none" strike="noStrike" cap="none"/>
          </a:p>
        </p:txBody>
      </p:sp>
      <p:sp>
        <p:nvSpPr>
          <p:cNvPr id="197" name="Google Shape;197;p9"/>
          <p:cNvSpPr/>
          <p:nvPr/>
        </p:nvSpPr>
        <p:spPr>
          <a:xfrm>
            <a:off x="1295400" y="2095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 extrusionOk="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198" name="Google Shape;198;p9"/>
          <p:cNvSpPr/>
          <p:nvPr/>
        </p:nvSpPr>
        <p:spPr>
          <a:xfrm>
            <a:off x="381000" y="2724150"/>
            <a:ext cx="76009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Arquitetura e</a:t>
            </a:r>
            <a:endParaRPr sz="16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Funcionamento</a:t>
            </a:r>
            <a:endParaRPr sz="1600" b="0" i="0" u="none" strike="noStrike" cap="none"/>
          </a:p>
        </p:txBody>
      </p:sp>
      <p:sp>
        <p:nvSpPr>
          <p:cNvPr id="199" name="Google Shape;199;p9"/>
          <p:cNvSpPr/>
          <p:nvPr/>
        </p:nvSpPr>
        <p:spPr>
          <a:xfrm>
            <a:off x="381000" y="4381500"/>
            <a:ext cx="74295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Componentes do sistema, arquivos Python e fluxo de execução da automação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 extrusionOk="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206" name="Google Shape;206;p10"/>
          <p:cNvSpPr/>
          <p:nvPr/>
        </p:nvSpPr>
        <p:spPr>
          <a:xfrm>
            <a:off x="876300" y="381000"/>
            <a:ext cx="8001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50034"/>
                </a:solidFill>
                <a:latin typeface="Liter"/>
                <a:ea typeface="Liter"/>
                <a:cs typeface="Liter"/>
                <a:sym typeface="Liter"/>
              </a:rPr>
              <a:t>Seção 02</a:t>
            </a:r>
            <a:endParaRPr sz="1600" b="0" i="0" u="none" strike="noStrike" cap="none"/>
          </a:p>
        </p:txBody>
      </p:sp>
      <p:sp>
        <p:nvSpPr>
          <p:cNvPr id="207" name="Google Shape;207;p10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Arquivos Python do Projeto</a:t>
            </a:r>
            <a:endParaRPr sz="1600" b="0" i="0" u="none" strike="noStrike" cap="none"/>
          </a:p>
        </p:txBody>
      </p:sp>
      <p:sp>
        <p:nvSpPr>
          <p:cNvPr id="208" name="Google Shape;208;p10"/>
          <p:cNvSpPr/>
          <p:nvPr/>
        </p:nvSpPr>
        <p:spPr>
          <a:xfrm>
            <a:off x="384175" y="1222375"/>
            <a:ext cx="3702050" cy="4149725"/>
          </a:xfrm>
          <a:custGeom>
            <a:avLst/>
            <a:gdLst/>
            <a:ahLst/>
            <a:cxnLst/>
            <a:rect l="l" t="t" r="r" b="b"/>
            <a:pathLst>
              <a:path w="3702050" h="4149725" extrusionOk="0">
                <a:moveTo>
                  <a:pt x="114282" y="0"/>
                </a:moveTo>
                <a:lnTo>
                  <a:pt x="3587768" y="0"/>
                </a:lnTo>
                <a:cubicBezTo>
                  <a:pt x="3650884" y="0"/>
                  <a:pt x="3702050" y="51166"/>
                  <a:pt x="3702050" y="114282"/>
                </a:cubicBezTo>
                <a:lnTo>
                  <a:pt x="3702050" y="4035443"/>
                </a:lnTo>
                <a:cubicBezTo>
                  <a:pt x="3702050" y="4098559"/>
                  <a:pt x="3650884" y="4149725"/>
                  <a:pt x="3587768" y="4149725"/>
                </a:cubicBezTo>
                <a:lnTo>
                  <a:pt x="114282" y="4149725"/>
                </a:lnTo>
                <a:cubicBezTo>
                  <a:pt x="51166" y="4149725"/>
                  <a:pt x="0" y="4098559"/>
                  <a:pt x="0" y="4035443"/>
                </a:cubicBezTo>
                <a:lnTo>
                  <a:pt x="0" y="114282"/>
                </a:lnTo>
                <a:cubicBezTo>
                  <a:pt x="0" y="51208"/>
                  <a:pt x="51208" y="0"/>
                  <a:pt x="114282" y="0"/>
                </a:cubicBezTo>
                <a:close/>
              </a:path>
            </a:pathLst>
          </a:custGeom>
          <a:solidFill>
            <a:srgbClr val="2D2D2D"/>
          </a:soli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539750" y="13779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661194" y="151130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extrusionOk="0">
                <a:moveTo>
                  <a:pt x="53578" y="178594"/>
                </a:moveTo>
                <a:cubicBezTo>
                  <a:pt x="23999" y="178594"/>
                  <a:pt x="0" y="154595"/>
                  <a:pt x="0" y="125016"/>
                </a:cubicBezTo>
                <a:cubicBezTo>
                  <a:pt x="0" y="101426"/>
                  <a:pt x="15255" y="81409"/>
                  <a:pt x="36426" y="74228"/>
                </a:cubicBezTo>
                <a:cubicBezTo>
                  <a:pt x="35942" y="71363"/>
                  <a:pt x="35719" y="68461"/>
                  <a:pt x="35719" y="65484"/>
                </a:cubicBezTo>
                <a:cubicBezTo>
                  <a:pt x="35719" y="35905"/>
                  <a:pt x="59717" y="11906"/>
                  <a:pt x="89297" y="11906"/>
                </a:cubicBezTo>
                <a:cubicBezTo>
                  <a:pt x="109910" y="11906"/>
                  <a:pt x="127806" y="23552"/>
                  <a:pt x="136773" y="40593"/>
                </a:cubicBezTo>
                <a:cubicBezTo>
                  <a:pt x="142056" y="37505"/>
                  <a:pt x="148233" y="35719"/>
                  <a:pt x="154781" y="35719"/>
                </a:cubicBezTo>
                <a:cubicBezTo>
                  <a:pt x="174501" y="35719"/>
                  <a:pt x="190500" y="51718"/>
                  <a:pt x="190500" y="71438"/>
                </a:cubicBezTo>
                <a:cubicBezTo>
                  <a:pt x="190500" y="77279"/>
                  <a:pt x="189086" y="82823"/>
                  <a:pt x="186593" y="87697"/>
                </a:cubicBezTo>
                <a:cubicBezTo>
                  <a:pt x="202964" y="95250"/>
                  <a:pt x="214313" y="111770"/>
                  <a:pt x="214313" y="130969"/>
                </a:cubicBezTo>
                <a:cubicBezTo>
                  <a:pt x="214313" y="157274"/>
                  <a:pt x="192993" y="178594"/>
                  <a:pt x="166688" y="178594"/>
                </a:cubicBezTo>
                <a:lnTo>
                  <a:pt x="53578" y="178594"/>
                </a:lnTo>
                <a:close/>
                <a:moveTo>
                  <a:pt x="140271" y="116458"/>
                </a:moveTo>
                <a:cubicBezTo>
                  <a:pt x="143768" y="112961"/>
                  <a:pt x="143768" y="107305"/>
                  <a:pt x="140271" y="103845"/>
                </a:cubicBezTo>
                <a:cubicBezTo>
                  <a:pt x="136773" y="100385"/>
                  <a:pt x="131118" y="100347"/>
                  <a:pt x="127657" y="103845"/>
                </a:cubicBezTo>
                <a:lnTo>
                  <a:pt x="116123" y="115379"/>
                </a:lnTo>
                <a:lnTo>
                  <a:pt x="116123" y="77391"/>
                </a:lnTo>
                <a:cubicBezTo>
                  <a:pt x="116123" y="72442"/>
                  <a:pt x="112142" y="68461"/>
                  <a:pt x="107193" y="68461"/>
                </a:cubicBezTo>
                <a:cubicBezTo>
                  <a:pt x="102245" y="68461"/>
                  <a:pt x="98264" y="72442"/>
                  <a:pt x="98264" y="77391"/>
                </a:cubicBezTo>
                <a:lnTo>
                  <a:pt x="98264" y="115379"/>
                </a:lnTo>
                <a:lnTo>
                  <a:pt x="86730" y="103845"/>
                </a:lnTo>
                <a:cubicBezTo>
                  <a:pt x="83232" y="100347"/>
                  <a:pt x="77577" y="100347"/>
                  <a:pt x="74116" y="103845"/>
                </a:cubicBezTo>
                <a:cubicBezTo>
                  <a:pt x="70656" y="107342"/>
                  <a:pt x="70619" y="112998"/>
                  <a:pt x="74116" y="116458"/>
                </a:cubicBezTo>
                <a:lnTo>
                  <a:pt x="100905" y="143247"/>
                </a:lnTo>
                <a:cubicBezTo>
                  <a:pt x="104403" y="146745"/>
                  <a:pt x="110058" y="146745"/>
                  <a:pt x="113519" y="143247"/>
                </a:cubicBezTo>
                <a:lnTo>
                  <a:pt x="140308" y="11645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111250" y="1397003"/>
            <a:ext cx="13049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coletor_dolar.py</a:t>
            </a:r>
            <a:endParaRPr sz="1600" b="0" i="0" u="none" strike="noStrike" cap="none"/>
          </a:p>
        </p:txBody>
      </p:sp>
      <p:sp>
        <p:nvSpPr>
          <p:cNvPr id="212" name="Google Shape;212;p10"/>
          <p:cNvSpPr/>
          <p:nvPr/>
        </p:nvSpPr>
        <p:spPr>
          <a:xfrm>
            <a:off x="1111250" y="1663703"/>
            <a:ext cx="1276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Módulo de Coleta</a:t>
            </a:r>
            <a:endParaRPr sz="1600" b="0" i="0" u="none" strike="noStrike" cap="none"/>
          </a:p>
        </p:txBody>
      </p:sp>
      <p:sp>
        <p:nvSpPr>
          <p:cNvPr id="213" name="Google Shape;213;p10"/>
          <p:cNvSpPr/>
          <p:nvPr/>
        </p:nvSpPr>
        <p:spPr>
          <a:xfrm>
            <a:off x="539750" y="1949453"/>
            <a:ext cx="3390900" cy="2619375"/>
          </a:xfrm>
          <a:custGeom>
            <a:avLst/>
            <a:gdLst/>
            <a:ahLst/>
            <a:cxnLst/>
            <a:rect l="l" t="t" r="r" b="b"/>
            <a:pathLst>
              <a:path w="3390900" h="2619375" extrusionOk="0">
                <a:moveTo>
                  <a:pt x="76198" y="0"/>
                </a:moveTo>
                <a:lnTo>
                  <a:pt x="3314702" y="0"/>
                </a:lnTo>
                <a:cubicBezTo>
                  <a:pt x="3356785" y="0"/>
                  <a:pt x="3390900" y="34115"/>
                  <a:pt x="3390900" y="76198"/>
                </a:cubicBezTo>
                <a:lnTo>
                  <a:pt x="3390900" y="2543177"/>
                </a:lnTo>
                <a:cubicBezTo>
                  <a:pt x="3390900" y="2585260"/>
                  <a:pt x="3356785" y="2619375"/>
                  <a:pt x="3314702" y="2619375"/>
                </a:cubicBezTo>
                <a:lnTo>
                  <a:pt x="76198" y="2619375"/>
                </a:lnTo>
                <a:cubicBezTo>
                  <a:pt x="34115" y="2619375"/>
                  <a:pt x="0" y="2585260"/>
                  <a:pt x="0" y="25431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54050" y="2063753"/>
            <a:ext cx="322897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Responsável por </a:t>
            </a:r>
            <a:r>
              <a:rPr lang="en-US" sz="1050" b="1" i="0" u="none" strike="noStrike" cap="none">
                <a:solidFill>
                  <a:srgbClr val="A5003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coletar dados da API</a:t>
            </a: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do Banco Central e retornar as cotações das moedas monitoradas.</a:t>
            </a:r>
            <a:endParaRPr sz="1600" b="0" i="0" u="none" strike="noStrike" cap="none"/>
          </a:p>
        </p:txBody>
      </p:sp>
      <p:sp>
        <p:nvSpPr>
          <p:cNvPr id="215" name="Google Shape;215;p10"/>
          <p:cNvSpPr/>
          <p:nvPr/>
        </p:nvSpPr>
        <p:spPr>
          <a:xfrm>
            <a:off x="654050" y="2828134"/>
            <a:ext cx="3162300" cy="1609725"/>
          </a:xfrm>
          <a:custGeom>
            <a:avLst/>
            <a:gdLst/>
            <a:ahLst/>
            <a:cxnLst/>
            <a:rect l="l" t="t" r="r" b="b"/>
            <a:pathLst>
              <a:path w="3162300" h="1609725" extrusionOk="0">
                <a:moveTo>
                  <a:pt x="76204" y="0"/>
                </a:moveTo>
                <a:lnTo>
                  <a:pt x="3086096" y="0"/>
                </a:lnTo>
                <a:cubicBezTo>
                  <a:pt x="3128182" y="0"/>
                  <a:pt x="3162300" y="34118"/>
                  <a:pt x="3162300" y="76204"/>
                </a:cubicBezTo>
                <a:lnTo>
                  <a:pt x="3162300" y="1533521"/>
                </a:lnTo>
                <a:cubicBezTo>
                  <a:pt x="3162300" y="1575607"/>
                  <a:pt x="3128182" y="1609725"/>
                  <a:pt x="3086096" y="1609725"/>
                </a:cubicBezTo>
                <a:lnTo>
                  <a:pt x="76204" y="1609725"/>
                </a:lnTo>
                <a:cubicBezTo>
                  <a:pt x="34118" y="1609725"/>
                  <a:pt x="0" y="1575607"/>
                  <a:pt x="0" y="15335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D2D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654050" y="2828134"/>
            <a:ext cx="3224213" cy="160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152400" rIns="152400" bIns="1524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requests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json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en-US" sz="975" b="0" i="0" u="none" strike="noStrike" cap="none">
                <a:solidFill>
                  <a:srgbClr val="DCDCAA"/>
                </a:solidFill>
                <a:latin typeface="Arial"/>
                <a:ea typeface="Arial"/>
                <a:cs typeface="Arial"/>
                <a:sym typeface="Arial"/>
              </a:rPr>
              <a:t>coletar_cotacoes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():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url 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Arial"/>
                <a:ea typeface="Arial"/>
                <a:cs typeface="Arial"/>
                <a:sym typeface="Arial"/>
              </a:rPr>
              <a:t>"https://api.bcb.gov.br/..."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response = requests.get(url)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response.json()</a:t>
            </a:r>
            <a:endParaRPr sz="1600" b="0" i="0" u="none" strike="noStrike" cap="none"/>
          </a:p>
        </p:txBody>
      </p:sp>
      <p:sp>
        <p:nvSpPr>
          <p:cNvPr id="217" name="Google Shape;217;p10"/>
          <p:cNvSpPr/>
          <p:nvPr/>
        </p:nvSpPr>
        <p:spPr>
          <a:xfrm>
            <a:off x="554038" y="46990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 extrusionOk="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758825" y="4679952"/>
            <a:ext cx="9334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Requisições HTTP</a:t>
            </a:r>
            <a:endParaRPr sz="1600" b="0" i="0" u="none" strike="noStrike" cap="none"/>
          </a:p>
        </p:txBody>
      </p:sp>
      <p:sp>
        <p:nvSpPr>
          <p:cNvPr id="219" name="Google Shape;219;p10"/>
          <p:cNvSpPr/>
          <p:nvPr/>
        </p:nvSpPr>
        <p:spPr>
          <a:xfrm>
            <a:off x="554038" y="48895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 extrusionOk="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758825" y="4870452"/>
            <a:ext cx="6096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Parse JSON</a:t>
            </a:r>
            <a:endParaRPr sz="1600" b="0" i="0" u="none" strike="noStrike" cap="none"/>
          </a:p>
        </p:txBody>
      </p:sp>
      <p:sp>
        <p:nvSpPr>
          <p:cNvPr id="221" name="Google Shape;221;p10"/>
          <p:cNvSpPr/>
          <p:nvPr/>
        </p:nvSpPr>
        <p:spPr>
          <a:xfrm>
            <a:off x="554038" y="50800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 extrusionOk="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758825" y="5060952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Tratamento de erros</a:t>
            </a:r>
            <a:endParaRPr sz="1600" b="0" i="0" u="none" strike="noStrike" cap="none"/>
          </a:p>
        </p:txBody>
      </p:sp>
      <p:sp>
        <p:nvSpPr>
          <p:cNvPr id="223" name="Google Shape;223;p10"/>
          <p:cNvSpPr/>
          <p:nvPr/>
        </p:nvSpPr>
        <p:spPr>
          <a:xfrm>
            <a:off x="4244975" y="1222375"/>
            <a:ext cx="3702050" cy="4149725"/>
          </a:xfrm>
          <a:custGeom>
            <a:avLst/>
            <a:gdLst/>
            <a:ahLst/>
            <a:cxnLst/>
            <a:rect l="l" t="t" r="r" b="b"/>
            <a:pathLst>
              <a:path w="3702050" h="4149725" extrusionOk="0">
                <a:moveTo>
                  <a:pt x="114282" y="0"/>
                </a:moveTo>
                <a:lnTo>
                  <a:pt x="3587768" y="0"/>
                </a:lnTo>
                <a:cubicBezTo>
                  <a:pt x="3650884" y="0"/>
                  <a:pt x="3702050" y="51166"/>
                  <a:pt x="3702050" y="114282"/>
                </a:cubicBezTo>
                <a:lnTo>
                  <a:pt x="3702050" y="4035443"/>
                </a:lnTo>
                <a:cubicBezTo>
                  <a:pt x="3702050" y="4098559"/>
                  <a:pt x="3650884" y="4149725"/>
                  <a:pt x="3587768" y="4149725"/>
                </a:cubicBezTo>
                <a:lnTo>
                  <a:pt x="114282" y="4149725"/>
                </a:lnTo>
                <a:cubicBezTo>
                  <a:pt x="51166" y="4149725"/>
                  <a:pt x="0" y="4098559"/>
                  <a:pt x="0" y="4035443"/>
                </a:cubicBezTo>
                <a:lnTo>
                  <a:pt x="0" y="114282"/>
                </a:lnTo>
                <a:cubicBezTo>
                  <a:pt x="0" y="51208"/>
                  <a:pt x="51208" y="0"/>
                  <a:pt x="114282" y="0"/>
                </a:cubicBezTo>
                <a:close/>
              </a:path>
            </a:pathLst>
          </a:custGeom>
          <a:solidFill>
            <a:srgbClr val="2D2D2D"/>
          </a:soli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400550" y="13779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4557713" y="151130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 extrusionOk="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61020" y="99231"/>
                </a:moveTo>
                <a:cubicBezTo>
                  <a:pt x="58266" y="95138"/>
                  <a:pt x="52722" y="94022"/>
                  <a:pt x="48630" y="96738"/>
                </a:cubicBezTo>
                <a:cubicBezTo>
                  <a:pt x="44537" y="99454"/>
                  <a:pt x="43421" y="105035"/>
                  <a:pt x="46137" y="109128"/>
                </a:cubicBezTo>
                <a:lnTo>
                  <a:pt x="60722" y="130969"/>
                </a:lnTo>
                <a:lnTo>
                  <a:pt x="46137" y="152809"/>
                </a:lnTo>
                <a:cubicBezTo>
                  <a:pt x="43383" y="156902"/>
                  <a:pt x="44500" y="162446"/>
                  <a:pt x="48630" y="165199"/>
                </a:cubicBezTo>
                <a:cubicBezTo>
                  <a:pt x="52760" y="167953"/>
                  <a:pt x="58266" y="166836"/>
                  <a:pt x="61020" y="162706"/>
                </a:cubicBezTo>
                <a:lnTo>
                  <a:pt x="71438" y="147079"/>
                </a:lnTo>
                <a:lnTo>
                  <a:pt x="81855" y="162706"/>
                </a:lnTo>
                <a:cubicBezTo>
                  <a:pt x="84609" y="166799"/>
                  <a:pt x="90153" y="167915"/>
                  <a:pt x="94245" y="165199"/>
                </a:cubicBezTo>
                <a:cubicBezTo>
                  <a:pt x="98338" y="162483"/>
                  <a:pt x="99454" y="156902"/>
                  <a:pt x="96738" y="152809"/>
                </a:cubicBezTo>
                <a:lnTo>
                  <a:pt x="82153" y="130969"/>
                </a:lnTo>
                <a:lnTo>
                  <a:pt x="96738" y="109128"/>
                </a:lnTo>
                <a:cubicBezTo>
                  <a:pt x="99492" y="105035"/>
                  <a:pt x="98375" y="99492"/>
                  <a:pt x="94245" y="96738"/>
                </a:cubicBezTo>
                <a:cubicBezTo>
                  <a:pt x="90115" y="93985"/>
                  <a:pt x="84609" y="95101"/>
                  <a:pt x="81855" y="99231"/>
                </a:cubicBezTo>
                <a:lnTo>
                  <a:pt x="71438" y="114858"/>
                </a:lnTo>
                <a:lnTo>
                  <a:pt x="61020" y="99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4972050" y="1397003"/>
            <a:ext cx="14573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excel_manager.py</a:t>
            </a:r>
            <a:endParaRPr sz="1600" b="0" i="0" u="none" strike="noStrike" cap="none"/>
          </a:p>
        </p:txBody>
      </p:sp>
      <p:sp>
        <p:nvSpPr>
          <p:cNvPr id="227" name="Google Shape;227;p10"/>
          <p:cNvSpPr/>
          <p:nvPr/>
        </p:nvSpPr>
        <p:spPr>
          <a:xfrm>
            <a:off x="4972050" y="1663703"/>
            <a:ext cx="14287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Módulo Excel</a:t>
            </a:r>
            <a:endParaRPr sz="1600" b="0" i="0" u="none" strike="noStrike" cap="none"/>
          </a:p>
        </p:txBody>
      </p:sp>
      <p:sp>
        <p:nvSpPr>
          <p:cNvPr id="228" name="Google Shape;228;p10"/>
          <p:cNvSpPr/>
          <p:nvPr/>
        </p:nvSpPr>
        <p:spPr>
          <a:xfrm>
            <a:off x="4400550" y="1949453"/>
            <a:ext cx="3390900" cy="2619375"/>
          </a:xfrm>
          <a:custGeom>
            <a:avLst/>
            <a:gdLst/>
            <a:ahLst/>
            <a:cxnLst/>
            <a:rect l="l" t="t" r="r" b="b"/>
            <a:pathLst>
              <a:path w="3390900" h="2619375" extrusionOk="0">
                <a:moveTo>
                  <a:pt x="76198" y="0"/>
                </a:moveTo>
                <a:lnTo>
                  <a:pt x="3314702" y="0"/>
                </a:lnTo>
                <a:cubicBezTo>
                  <a:pt x="3356785" y="0"/>
                  <a:pt x="3390900" y="34115"/>
                  <a:pt x="3390900" y="76198"/>
                </a:cubicBezTo>
                <a:lnTo>
                  <a:pt x="3390900" y="2543177"/>
                </a:lnTo>
                <a:cubicBezTo>
                  <a:pt x="3390900" y="2585260"/>
                  <a:pt x="3356785" y="2619375"/>
                  <a:pt x="3314702" y="2619375"/>
                </a:cubicBezTo>
                <a:lnTo>
                  <a:pt x="76198" y="2619375"/>
                </a:lnTo>
                <a:cubicBezTo>
                  <a:pt x="34115" y="2619375"/>
                  <a:pt x="0" y="2585260"/>
                  <a:pt x="0" y="25431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4514850" y="2063753"/>
            <a:ext cx="32289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Gerencia todas as operações com o arquivo Excel, incluindo </a:t>
            </a:r>
            <a:r>
              <a:rPr lang="en-US" sz="1050" b="1" i="0" u="none" strike="noStrike" cap="none">
                <a:solidFill>
                  <a:srgbClr val="05DF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leitura, escrita e formatação</a:t>
            </a: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600" b="0" i="0" u="none" strike="noStrike" cap="none"/>
          </a:p>
        </p:txBody>
      </p:sp>
      <p:sp>
        <p:nvSpPr>
          <p:cNvPr id="230" name="Google Shape;230;p10"/>
          <p:cNvSpPr/>
          <p:nvPr/>
        </p:nvSpPr>
        <p:spPr>
          <a:xfrm>
            <a:off x="4514850" y="2611441"/>
            <a:ext cx="3162300" cy="1790700"/>
          </a:xfrm>
          <a:custGeom>
            <a:avLst/>
            <a:gdLst/>
            <a:ahLst/>
            <a:cxnLst/>
            <a:rect l="l" t="t" r="r" b="b"/>
            <a:pathLst>
              <a:path w="3162300" h="1790700" extrusionOk="0">
                <a:moveTo>
                  <a:pt x="76194" y="0"/>
                </a:moveTo>
                <a:lnTo>
                  <a:pt x="3086106" y="0"/>
                </a:lnTo>
                <a:cubicBezTo>
                  <a:pt x="3128158" y="0"/>
                  <a:pt x="3162300" y="34142"/>
                  <a:pt x="3162300" y="76194"/>
                </a:cubicBezTo>
                <a:lnTo>
                  <a:pt x="3162300" y="1714506"/>
                </a:lnTo>
                <a:cubicBezTo>
                  <a:pt x="3162300" y="1756587"/>
                  <a:pt x="3128187" y="1790700"/>
                  <a:pt x="308610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2D2D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514850" y="2611441"/>
            <a:ext cx="3224213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152400" rIns="152400" bIns="1524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openpyxl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en-US" sz="975" b="0" i="0" u="none" strike="noStrike" cap="none">
                <a:solidFill>
                  <a:srgbClr val="DCDCAA"/>
                </a:solidFill>
                <a:latin typeface="Arial"/>
                <a:ea typeface="Arial"/>
                <a:cs typeface="Arial"/>
                <a:sym typeface="Arial"/>
              </a:rPr>
              <a:t>adicionar_linha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(dados):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wb = openpyxl.load_workbook(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E9178"/>
                </a:solidFill>
                <a:latin typeface="Arial"/>
                <a:ea typeface="Arial"/>
                <a:cs typeface="Arial"/>
                <a:sym typeface="Arial"/>
              </a:rPr>
              <a:t>'dados_dolar.xlsx'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ws = wb.active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ws.append(dados)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wb.save()</a:t>
            </a:r>
            <a:endParaRPr sz="1600" b="0" i="0" u="none" strike="noStrike" cap="none"/>
          </a:p>
        </p:txBody>
      </p:sp>
      <p:sp>
        <p:nvSpPr>
          <p:cNvPr id="232" name="Google Shape;232;p10"/>
          <p:cNvSpPr/>
          <p:nvPr/>
        </p:nvSpPr>
        <p:spPr>
          <a:xfrm>
            <a:off x="4414838" y="46990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 extrusionOk="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4619625" y="4679952"/>
            <a:ext cx="5238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openpyxl</a:t>
            </a:r>
            <a:endParaRPr sz="1600" b="0" i="0" u="none" strike="noStrike" cap="none"/>
          </a:p>
        </p:txBody>
      </p:sp>
      <p:sp>
        <p:nvSpPr>
          <p:cNvPr id="234" name="Google Shape;234;p10"/>
          <p:cNvSpPr/>
          <p:nvPr/>
        </p:nvSpPr>
        <p:spPr>
          <a:xfrm>
            <a:off x="4414838" y="48895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 extrusionOk="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4619625" y="4870452"/>
            <a:ext cx="11620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Formatação de células</a:t>
            </a:r>
            <a:endParaRPr sz="1600" b="0" i="0" u="none" strike="noStrike" cap="none"/>
          </a:p>
        </p:txBody>
      </p:sp>
      <p:sp>
        <p:nvSpPr>
          <p:cNvPr id="236" name="Google Shape;236;p10"/>
          <p:cNvSpPr/>
          <p:nvPr/>
        </p:nvSpPr>
        <p:spPr>
          <a:xfrm>
            <a:off x="4414838" y="50800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 extrusionOk="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4619625" y="5060952"/>
            <a:ext cx="10287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Validação de dados</a:t>
            </a:r>
            <a:endParaRPr sz="1600" b="0" i="0" u="none" strike="noStrike" cap="none"/>
          </a:p>
        </p:txBody>
      </p:sp>
      <p:sp>
        <p:nvSpPr>
          <p:cNvPr id="238" name="Google Shape;238;p10"/>
          <p:cNvSpPr/>
          <p:nvPr/>
        </p:nvSpPr>
        <p:spPr>
          <a:xfrm>
            <a:off x="8105775" y="1222375"/>
            <a:ext cx="3702050" cy="4149725"/>
          </a:xfrm>
          <a:custGeom>
            <a:avLst/>
            <a:gdLst/>
            <a:ahLst/>
            <a:cxnLst/>
            <a:rect l="l" t="t" r="r" b="b"/>
            <a:pathLst>
              <a:path w="3702050" h="4149725" extrusionOk="0">
                <a:moveTo>
                  <a:pt x="114282" y="0"/>
                </a:moveTo>
                <a:lnTo>
                  <a:pt x="3587768" y="0"/>
                </a:lnTo>
                <a:cubicBezTo>
                  <a:pt x="3650884" y="0"/>
                  <a:pt x="3702050" y="51166"/>
                  <a:pt x="3702050" y="114282"/>
                </a:cubicBezTo>
                <a:lnTo>
                  <a:pt x="3702050" y="4035443"/>
                </a:lnTo>
                <a:cubicBezTo>
                  <a:pt x="3702050" y="4098559"/>
                  <a:pt x="3650884" y="4149725"/>
                  <a:pt x="3587768" y="4149725"/>
                </a:cubicBezTo>
                <a:lnTo>
                  <a:pt x="114282" y="4149725"/>
                </a:lnTo>
                <a:cubicBezTo>
                  <a:pt x="51166" y="4149725"/>
                  <a:pt x="0" y="4098559"/>
                  <a:pt x="0" y="4035443"/>
                </a:cubicBezTo>
                <a:lnTo>
                  <a:pt x="0" y="114282"/>
                </a:lnTo>
                <a:cubicBezTo>
                  <a:pt x="0" y="51208"/>
                  <a:pt x="51208" y="0"/>
                  <a:pt x="114282" y="0"/>
                </a:cubicBezTo>
                <a:close/>
              </a:path>
            </a:pathLst>
          </a:custGeom>
          <a:solidFill>
            <a:srgbClr val="2D2D2D"/>
          </a:soli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8261350" y="13779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8394700" y="15113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70061" y="54732"/>
                </a:moveTo>
                <a:cubicBezTo>
                  <a:pt x="67233" y="56294"/>
                  <a:pt x="65484" y="59308"/>
                  <a:pt x="65484" y="62508"/>
                </a:cubicBezTo>
                <a:lnTo>
                  <a:pt x="65484" y="127992"/>
                </a:lnTo>
                <a:cubicBezTo>
                  <a:pt x="65484" y="131229"/>
                  <a:pt x="67233" y="134206"/>
                  <a:pt x="70061" y="135768"/>
                </a:cubicBezTo>
                <a:cubicBezTo>
                  <a:pt x="72889" y="137331"/>
                  <a:pt x="76312" y="137294"/>
                  <a:pt x="79102" y="135582"/>
                </a:cubicBezTo>
                <a:lnTo>
                  <a:pt x="132680" y="102840"/>
                </a:lnTo>
                <a:cubicBezTo>
                  <a:pt x="135322" y="101203"/>
                  <a:pt x="136959" y="98338"/>
                  <a:pt x="136959" y="95213"/>
                </a:cubicBezTo>
                <a:cubicBezTo>
                  <a:pt x="136959" y="92087"/>
                  <a:pt x="135322" y="89222"/>
                  <a:pt x="132680" y="87585"/>
                </a:cubicBezTo>
                <a:lnTo>
                  <a:pt x="79102" y="54843"/>
                </a:lnTo>
                <a:cubicBezTo>
                  <a:pt x="76349" y="53169"/>
                  <a:pt x="72889" y="53094"/>
                  <a:pt x="70061" y="546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8832850" y="1397003"/>
            <a:ext cx="1200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main.py</a:t>
            </a:r>
            <a:endParaRPr sz="1600" b="0" i="0" u="none" strike="noStrike" cap="none"/>
          </a:p>
        </p:txBody>
      </p:sp>
      <p:sp>
        <p:nvSpPr>
          <p:cNvPr id="242" name="Google Shape;242;p10"/>
          <p:cNvSpPr/>
          <p:nvPr/>
        </p:nvSpPr>
        <p:spPr>
          <a:xfrm>
            <a:off x="8832850" y="1663703"/>
            <a:ext cx="11715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Orquestrador Principal</a:t>
            </a:r>
            <a:endParaRPr sz="1600" b="0" i="0" u="none" strike="noStrike" cap="none"/>
          </a:p>
        </p:txBody>
      </p:sp>
      <p:sp>
        <p:nvSpPr>
          <p:cNvPr id="243" name="Google Shape;243;p10"/>
          <p:cNvSpPr/>
          <p:nvPr/>
        </p:nvSpPr>
        <p:spPr>
          <a:xfrm>
            <a:off x="8261350" y="1949453"/>
            <a:ext cx="3390900" cy="2619375"/>
          </a:xfrm>
          <a:custGeom>
            <a:avLst/>
            <a:gdLst/>
            <a:ahLst/>
            <a:cxnLst/>
            <a:rect l="l" t="t" r="r" b="b"/>
            <a:pathLst>
              <a:path w="3390900" h="2619375" extrusionOk="0">
                <a:moveTo>
                  <a:pt x="76198" y="0"/>
                </a:moveTo>
                <a:lnTo>
                  <a:pt x="3314702" y="0"/>
                </a:lnTo>
                <a:cubicBezTo>
                  <a:pt x="3356785" y="0"/>
                  <a:pt x="3390900" y="34115"/>
                  <a:pt x="3390900" y="76198"/>
                </a:cubicBezTo>
                <a:lnTo>
                  <a:pt x="3390900" y="2543177"/>
                </a:lnTo>
                <a:cubicBezTo>
                  <a:pt x="3390900" y="2585260"/>
                  <a:pt x="3356785" y="2619375"/>
                  <a:pt x="3314702" y="2619375"/>
                </a:cubicBezTo>
                <a:lnTo>
                  <a:pt x="76198" y="2619375"/>
                </a:lnTo>
                <a:cubicBezTo>
                  <a:pt x="34115" y="2619375"/>
                  <a:pt x="0" y="2585260"/>
                  <a:pt x="0" y="25431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8375650" y="2063753"/>
            <a:ext cx="32289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Ponto de entrada da aplicação que </a:t>
            </a:r>
            <a:r>
              <a:rPr lang="en-US" sz="1050" b="1" i="0" u="none" strike="noStrike" cap="none">
                <a:solidFill>
                  <a:srgbClr val="51A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coordena todos os módulos</a:t>
            </a: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 executa o fluxo completo.</a:t>
            </a:r>
            <a:endParaRPr sz="1600" b="0" i="0" u="none" strike="noStrike" cap="none"/>
          </a:p>
        </p:txBody>
      </p:sp>
      <p:sp>
        <p:nvSpPr>
          <p:cNvPr id="245" name="Google Shape;245;p10"/>
          <p:cNvSpPr/>
          <p:nvPr/>
        </p:nvSpPr>
        <p:spPr>
          <a:xfrm>
            <a:off x="8375650" y="2611441"/>
            <a:ext cx="3162300" cy="1790700"/>
          </a:xfrm>
          <a:custGeom>
            <a:avLst/>
            <a:gdLst/>
            <a:ahLst/>
            <a:cxnLst/>
            <a:rect l="l" t="t" r="r" b="b"/>
            <a:pathLst>
              <a:path w="3162300" h="1790700" extrusionOk="0">
                <a:moveTo>
                  <a:pt x="76194" y="0"/>
                </a:moveTo>
                <a:lnTo>
                  <a:pt x="3086106" y="0"/>
                </a:lnTo>
                <a:cubicBezTo>
                  <a:pt x="3128158" y="0"/>
                  <a:pt x="3162300" y="34142"/>
                  <a:pt x="3162300" y="76194"/>
                </a:cubicBezTo>
                <a:lnTo>
                  <a:pt x="3162300" y="1714506"/>
                </a:lnTo>
                <a:cubicBezTo>
                  <a:pt x="3162300" y="1756587"/>
                  <a:pt x="3128187" y="1790700"/>
                  <a:pt x="308610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2D2D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8375650" y="2611441"/>
            <a:ext cx="3224213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152400" rIns="152400" bIns="1524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coletor_dolar </a:t>
            </a:r>
            <a:r>
              <a:rPr lang="en-US" sz="975" b="0" i="0" u="none" strike="noStrike" cap="non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excel_manager </a:t>
            </a:r>
            <a:r>
              <a:rPr lang="en-US" sz="975" b="0" i="0" u="none" strike="noStrike" cap="non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en-US" sz="975" b="0" i="0" u="none" strike="noStrike" cap="none">
                <a:solidFill>
                  <a:srgbClr val="DCDCAA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():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dados = coletar_cotacoes()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adicionar_linha(dados)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__name__ ==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Arial"/>
                <a:ea typeface="Arial"/>
                <a:cs typeface="Arial"/>
                <a:sym typeface="Arial"/>
              </a:rPr>
              <a:t>"__main__"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main()</a:t>
            </a:r>
            <a:endParaRPr sz="1600" b="0" i="0" u="none" strike="noStrike" cap="none"/>
          </a:p>
        </p:txBody>
      </p:sp>
      <p:sp>
        <p:nvSpPr>
          <p:cNvPr id="247" name="Google Shape;247;p10"/>
          <p:cNvSpPr/>
          <p:nvPr/>
        </p:nvSpPr>
        <p:spPr>
          <a:xfrm>
            <a:off x="8275638" y="46990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 extrusionOk="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8480425" y="4679952"/>
            <a:ext cx="7334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Orquestração</a:t>
            </a:r>
            <a:endParaRPr sz="1600" b="0" i="0" u="none" strike="noStrike" cap="none"/>
          </a:p>
        </p:txBody>
      </p:sp>
      <p:sp>
        <p:nvSpPr>
          <p:cNvPr id="249" name="Google Shape;249;p10"/>
          <p:cNvSpPr/>
          <p:nvPr/>
        </p:nvSpPr>
        <p:spPr>
          <a:xfrm>
            <a:off x="8275638" y="48895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 extrusionOk="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8480425" y="4870452"/>
            <a:ext cx="4381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Logging</a:t>
            </a:r>
            <a:endParaRPr sz="1600" b="0" i="0" u="none" strike="noStrike" cap="none"/>
          </a:p>
        </p:txBody>
      </p:sp>
      <p:sp>
        <p:nvSpPr>
          <p:cNvPr id="251" name="Google Shape;251;p10"/>
          <p:cNvSpPr/>
          <p:nvPr/>
        </p:nvSpPr>
        <p:spPr>
          <a:xfrm>
            <a:off x="8275638" y="50800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 extrusionOk="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8480425" y="5060952"/>
            <a:ext cx="9906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Execução principal</a:t>
            </a:r>
            <a:endParaRPr sz="1600" b="0" i="0" u="none" strike="noStrike" cap="none"/>
          </a:p>
        </p:txBody>
      </p:sp>
      <p:sp>
        <p:nvSpPr>
          <p:cNvPr id="253" name="Google Shape;253;p10"/>
          <p:cNvSpPr/>
          <p:nvPr/>
        </p:nvSpPr>
        <p:spPr>
          <a:xfrm>
            <a:off x="400050" y="5486400"/>
            <a:ext cx="11410950" cy="685800"/>
          </a:xfrm>
          <a:custGeom>
            <a:avLst/>
            <a:gdLst/>
            <a:ahLst/>
            <a:cxnLst/>
            <a:rect l="l" t="t" r="r" b="b"/>
            <a:pathLst>
              <a:path w="11410950" h="685800" extrusionOk="0">
                <a:moveTo>
                  <a:pt x="38100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609601"/>
                </a:lnTo>
                <a:cubicBezTo>
                  <a:pt x="11410950" y="651684"/>
                  <a:pt x="11376834" y="685800"/>
                  <a:pt x="113347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A5003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400050" y="54864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 extrusionOk="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578644" y="56007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 extrusionOk="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862013" y="5600700"/>
            <a:ext cx="6534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Dica</a:t>
            </a:r>
            <a:endParaRPr sz="1600" b="0" i="0" u="none" strike="noStrike" cap="none"/>
          </a:p>
        </p:txBody>
      </p:sp>
      <p:sp>
        <p:nvSpPr>
          <p:cNvPr id="257" name="Google Shape;257;p10"/>
          <p:cNvSpPr/>
          <p:nvPr/>
        </p:nvSpPr>
        <p:spPr>
          <a:xfrm>
            <a:off x="862013" y="5867400"/>
            <a:ext cx="6524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separação em módulos segue o princípio da responsabilidade única, facilitando manutenção e testes unitários.</a:t>
            </a:r>
            <a:endParaRPr sz="1600" b="0" i="0" u="none" strike="noStrike" cap="none"/>
          </a:p>
        </p:txBody>
      </p:sp>
      <p:sp>
        <p:nvSpPr>
          <p:cNvPr id="258" name="Google Shape;258;p10"/>
          <p:cNvSpPr/>
          <p:nvPr/>
        </p:nvSpPr>
        <p:spPr>
          <a:xfrm>
            <a:off x="383381" y="63150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 extrusionOk="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23888" y="6286500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Projeto RPA – Monitoramento de Cotações</a:t>
            </a:r>
            <a:endParaRPr sz="1600" b="0" i="0" u="none" strike="noStrike" cap="none"/>
          </a:p>
        </p:txBody>
      </p:sp>
      <p:sp>
        <p:nvSpPr>
          <p:cNvPr id="260" name="Google Shape;260;p10"/>
          <p:cNvSpPr/>
          <p:nvPr/>
        </p:nvSpPr>
        <p:spPr>
          <a:xfrm>
            <a:off x="11340405" y="6286500"/>
            <a:ext cx="2952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7/12</a:t>
            </a:r>
            <a:endParaRPr sz="1600" b="0" i="0" u="none" strike="noStrike" cap="none"/>
          </a:p>
        </p:txBody>
      </p:sp>
      <p:sp>
        <p:nvSpPr>
          <p:cNvPr id="261" name="Google Shape;261;p10"/>
          <p:cNvSpPr/>
          <p:nvPr/>
        </p:nvSpPr>
        <p:spPr>
          <a:xfrm>
            <a:off x="11680031" y="63150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 extrusionOk="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/>
          <p:nvPr/>
        </p:nvSpPr>
        <p:spPr>
          <a:xfrm>
            <a:off x="352116" y="422539"/>
            <a:ext cx="352116" cy="35212"/>
          </a:xfrm>
          <a:custGeom>
            <a:avLst/>
            <a:gdLst/>
            <a:ahLst/>
            <a:cxnLst/>
            <a:rect l="l" t="t" r="r" b="b"/>
            <a:pathLst>
              <a:path w="352116" h="35212" extrusionOk="0">
                <a:moveTo>
                  <a:pt x="0" y="0"/>
                </a:moveTo>
                <a:lnTo>
                  <a:pt x="352116" y="0"/>
                </a:lnTo>
                <a:lnTo>
                  <a:pt x="352116" y="35212"/>
                </a:lnTo>
                <a:lnTo>
                  <a:pt x="0" y="35212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268" name="Google Shape;268;p11"/>
          <p:cNvSpPr/>
          <p:nvPr/>
        </p:nvSpPr>
        <p:spPr>
          <a:xfrm>
            <a:off x="809866" y="352116"/>
            <a:ext cx="739443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0" i="0" u="none" strike="noStrike" cap="none">
                <a:solidFill>
                  <a:srgbClr val="A50034"/>
                </a:solidFill>
                <a:latin typeface="Liter"/>
                <a:ea typeface="Liter"/>
                <a:cs typeface="Liter"/>
                <a:sym typeface="Liter"/>
              </a:rPr>
              <a:t>Seção 02</a:t>
            </a:r>
            <a:endParaRPr sz="1600" b="0" i="0" u="none" strike="noStrike" cap="none"/>
          </a:p>
        </p:txBody>
      </p:sp>
      <p:sp>
        <p:nvSpPr>
          <p:cNvPr id="269" name="Google Shape;269;p11"/>
          <p:cNvSpPr/>
          <p:nvPr/>
        </p:nvSpPr>
        <p:spPr>
          <a:xfrm>
            <a:off x="352116" y="633808"/>
            <a:ext cx="11646221" cy="35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5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Fluxo de Execução</a:t>
            </a:r>
            <a:endParaRPr sz="1600" b="0" i="0" u="none" strike="noStrike" cap="none"/>
          </a:p>
        </p:txBody>
      </p:sp>
      <p:sp>
        <p:nvSpPr>
          <p:cNvPr id="270" name="Google Shape;270;p11"/>
          <p:cNvSpPr/>
          <p:nvPr/>
        </p:nvSpPr>
        <p:spPr>
          <a:xfrm>
            <a:off x="355050" y="1164916"/>
            <a:ext cx="11484835" cy="2012927"/>
          </a:xfrm>
          <a:custGeom>
            <a:avLst/>
            <a:gdLst/>
            <a:ahLst/>
            <a:cxnLst/>
            <a:rect l="l" t="t" r="r" b="b"/>
            <a:pathLst>
              <a:path w="11484835" h="2012927" extrusionOk="0">
                <a:moveTo>
                  <a:pt x="105638" y="0"/>
                </a:moveTo>
                <a:lnTo>
                  <a:pt x="11379196" y="0"/>
                </a:lnTo>
                <a:cubicBezTo>
                  <a:pt x="11437539" y="0"/>
                  <a:pt x="11484835" y="47296"/>
                  <a:pt x="11484835" y="105638"/>
                </a:cubicBezTo>
                <a:lnTo>
                  <a:pt x="11484835" y="1907289"/>
                </a:lnTo>
                <a:cubicBezTo>
                  <a:pt x="11484835" y="1965631"/>
                  <a:pt x="11437539" y="2012927"/>
                  <a:pt x="11379196" y="2012927"/>
                </a:cubicBezTo>
                <a:lnTo>
                  <a:pt x="105638" y="2012927"/>
                </a:lnTo>
                <a:cubicBezTo>
                  <a:pt x="47296" y="2012927"/>
                  <a:pt x="0" y="1965631"/>
                  <a:pt x="0" y="1907289"/>
                </a:cubicBezTo>
                <a:lnTo>
                  <a:pt x="0" y="105638"/>
                </a:lnTo>
                <a:cubicBezTo>
                  <a:pt x="0" y="47335"/>
                  <a:pt x="47335" y="0"/>
                  <a:pt x="105638" y="0"/>
                </a:cubicBezTo>
                <a:close/>
              </a:path>
            </a:pathLst>
          </a:custGeom>
          <a:solidFill>
            <a:srgbClr val="2D2D2D"/>
          </a:soli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525239" y="1379122"/>
            <a:ext cx="11144456" cy="24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6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Pipeline de Automação</a:t>
            </a:r>
            <a:endParaRPr sz="1600" b="0" i="0" u="none" strike="noStrike" cap="none"/>
          </a:p>
        </p:txBody>
      </p:sp>
      <p:sp>
        <p:nvSpPr>
          <p:cNvPr id="272" name="Google Shape;272;p11"/>
          <p:cNvSpPr/>
          <p:nvPr/>
        </p:nvSpPr>
        <p:spPr>
          <a:xfrm>
            <a:off x="3357385" y="1836872"/>
            <a:ext cx="704231" cy="704231"/>
          </a:xfrm>
          <a:custGeom>
            <a:avLst/>
            <a:gdLst/>
            <a:ahLst/>
            <a:cxnLst/>
            <a:rect l="l" t="t" r="r" b="b"/>
            <a:pathLst>
              <a:path w="704231" h="704231" extrusionOk="0">
                <a:moveTo>
                  <a:pt x="352116" y="0"/>
                </a:moveTo>
                <a:lnTo>
                  <a:pt x="352116" y="0"/>
                </a:lnTo>
                <a:cubicBezTo>
                  <a:pt x="546584" y="0"/>
                  <a:pt x="704231" y="157647"/>
                  <a:pt x="704231" y="352116"/>
                </a:cubicBezTo>
                <a:lnTo>
                  <a:pt x="704231" y="352116"/>
                </a:lnTo>
                <a:cubicBezTo>
                  <a:pt x="704231" y="546584"/>
                  <a:pt x="546584" y="704231"/>
                  <a:pt x="352116" y="704231"/>
                </a:cubicBezTo>
                <a:lnTo>
                  <a:pt x="352116" y="704231"/>
                </a:lnTo>
                <a:cubicBezTo>
                  <a:pt x="157647" y="704231"/>
                  <a:pt x="0" y="546584"/>
                  <a:pt x="0" y="352116"/>
                </a:cubicBezTo>
                <a:lnTo>
                  <a:pt x="0" y="352116"/>
                </a:lnTo>
                <a:cubicBezTo>
                  <a:pt x="0" y="157647"/>
                  <a:pt x="157647" y="0"/>
                  <a:pt x="352116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3617070" y="2083353"/>
            <a:ext cx="184861" cy="211269"/>
          </a:xfrm>
          <a:custGeom>
            <a:avLst/>
            <a:gdLst/>
            <a:ahLst/>
            <a:cxnLst/>
            <a:rect l="l" t="t" r="r" b="b"/>
            <a:pathLst>
              <a:path w="184861" h="211269" extrusionOk="0">
                <a:moveTo>
                  <a:pt x="37632" y="15226"/>
                </a:moveTo>
                <a:cubicBezTo>
                  <a:pt x="32516" y="12420"/>
                  <a:pt x="26326" y="12544"/>
                  <a:pt x="21292" y="15515"/>
                </a:cubicBezTo>
                <a:cubicBezTo>
                  <a:pt x="16258" y="18486"/>
                  <a:pt x="13204" y="23892"/>
                  <a:pt x="13204" y="29710"/>
                </a:cubicBezTo>
                <a:lnTo>
                  <a:pt x="13204" y="181560"/>
                </a:lnTo>
                <a:cubicBezTo>
                  <a:pt x="13204" y="187378"/>
                  <a:pt x="16299" y="192783"/>
                  <a:pt x="21292" y="195754"/>
                </a:cubicBezTo>
                <a:cubicBezTo>
                  <a:pt x="26285" y="198725"/>
                  <a:pt x="32516" y="198849"/>
                  <a:pt x="37632" y="196043"/>
                </a:cubicBezTo>
                <a:lnTo>
                  <a:pt x="176278" y="120118"/>
                </a:lnTo>
                <a:cubicBezTo>
                  <a:pt x="181560" y="117230"/>
                  <a:pt x="184861" y="111659"/>
                  <a:pt x="184861" y="105635"/>
                </a:cubicBezTo>
                <a:cubicBezTo>
                  <a:pt x="184861" y="99610"/>
                  <a:pt x="181560" y="94040"/>
                  <a:pt x="176278" y="91151"/>
                </a:cubicBezTo>
                <a:lnTo>
                  <a:pt x="37632" y="152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3496397" y="2646738"/>
            <a:ext cx="484159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main.py</a:t>
            </a:r>
            <a:endParaRPr sz="1600" b="0" i="0" u="none" strike="noStrike" cap="none"/>
          </a:p>
        </p:txBody>
      </p:sp>
      <p:sp>
        <p:nvSpPr>
          <p:cNvPr id="275" name="Google Shape;275;p11"/>
          <p:cNvSpPr/>
          <p:nvPr/>
        </p:nvSpPr>
        <p:spPr>
          <a:xfrm>
            <a:off x="3586352" y="2822796"/>
            <a:ext cx="299298" cy="14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2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Início</a:t>
            </a:r>
            <a:endParaRPr sz="1600" b="0" i="0" u="none" strike="noStrike" cap="none"/>
          </a:p>
        </p:txBody>
      </p:sp>
      <p:sp>
        <p:nvSpPr>
          <p:cNvPr id="276" name="Google Shape;276;p11"/>
          <p:cNvSpPr/>
          <p:nvPr/>
        </p:nvSpPr>
        <p:spPr>
          <a:xfrm>
            <a:off x="4202462" y="2277017"/>
            <a:ext cx="563385" cy="35212"/>
          </a:xfrm>
          <a:custGeom>
            <a:avLst/>
            <a:gdLst/>
            <a:ahLst/>
            <a:cxnLst/>
            <a:rect l="l" t="t" r="r" b="b"/>
            <a:pathLst>
              <a:path w="563385" h="35212" extrusionOk="0">
                <a:moveTo>
                  <a:pt x="0" y="0"/>
                </a:moveTo>
                <a:lnTo>
                  <a:pt x="563385" y="0"/>
                </a:lnTo>
                <a:lnTo>
                  <a:pt x="563385" y="35212"/>
                </a:lnTo>
                <a:lnTo>
                  <a:pt x="0" y="35212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277" name="Google Shape;277;p11"/>
          <p:cNvSpPr/>
          <p:nvPr/>
        </p:nvSpPr>
        <p:spPr>
          <a:xfrm>
            <a:off x="4413731" y="2382651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 extrusionOk="0">
                <a:moveTo>
                  <a:pt x="138260" y="76640"/>
                </a:moveTo>
                <a:cubicBezTo>
                  <a:pt x="141699" y="73202"/>
                  <a:pt x="141699" y="67617"/>
                  <a:pt x="138260" y="64179"/>
                </a:cubicBezTo>
                <a:lnTo>
                  <a:pt x="94246" y="20164"/>
                </a:lnTo>
                <a:cubicBezTo>
                  <a:pt x="90807" y="16725"/>
                  <a:pt x="85223" y="16725"/>
                  <a:pt x="81784" y="20164"/>
                </a:cubicBezTo>
                <a:cubicBezTo>
                  <a:pt x="78346" y="23603"/>
                  <a:pt x="78346" y="29187"/>
                  <a:pt x="81784" y="32626"/>
                </a:cubicBezTo>
                <a:lnTo>
                  <a:pt x="110779" y="61620"/>
                </a:lnTo>
                <a:lnTo>
                  <a:pt x="8803" y="61620"/>
                </a:lnTo>
                <a:cubicBezTo>
                  <a:pt x="3934" y="61620"/>
                  <a:pt x="0" y="65554"/>
                  <a:pt x="0" y="70423"/>
                </a:cubicBezTo>
                <a:cubicBezTo>
                  <a:pt x="0" y="75292"/>
                  <a:pt x="3934" y="79226"/>
                  <a:pt x="8803" y="79226"/>
                </a:cubicBezTo>
                <a:lnTo>
                  <a:pt x="110779" y="79226"/>
                </a:lnTo>
                <a:lnTo>
                  <a:pt x="81784" y="108221"/>
                </a:lnTo>
                <a:cubicBezTo>
                  <a:pt x="78346" y="111659"/>
                  <a:pt x="78346" y="117243"/>
                  <a:pt x="81784" y="120682"/>
                </a:cubicBezTo>
                <a:cubicBezTo>
                  <a:pt x="85223" y="124121"/>
                  <a:pt x="90807" y="124121"/>
                  <a:pt x="94246" y="120682"/>
                </a:cubicBezTo>
                <a:lnTo>
                  <a:pt x="138260" y="76668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4911553" y="1836872"/>
            <a:ext cx="704231" cy="704231"/>
          </a:xfrm>
          <a:custGeom>
            <a:avLst/>
            <a:gdLst/>
            <a:ahLst/>
            <a:cxnLst/>
            <a:rect l="l" t="t" r="r" b="b"/>
            <a:pathLst>
              <a:path w="704231" h="704231" extrusionOk="0">
                <a:moveTo>
                  <a:pt x="352116" y="0"/>
                </a:moveTo>
                <a:lnTo>
                  <a:pt x="352116" y="0"/>
                </a:lnTo>
                <a:cubicBezTo>
                  <a:pt x="546584" y="0"/>
                  <a:pt x="704231" y="157647"/>
                  <a:pt x="704231" y="352116"/>
                </a:cubicBezTo>
                <a:lnTo>
                  <a:pt x="704231" y="352116"/>
                </a:lnTo>
                <a:cubicBezTo>
                  <a:pt x="704231" y="546584"/>
                  <a:pt x="546584" y="704231"/>
                  <a:pt x="352116" y="704231"/>
                </a:cubicBezTo>
                <a:lnTo>
                  <a:pt x="352116" y="704231"/>
                </a:lnTo>
                <a:cubicBezTo>
                  <a:pt x="157647" y="704231"/>
                  <a:pt x="0" y="546584"/>
                  <a:pt x="0" y="352116"/>
                </a:cubicBezTo>
                <a:lnTo>
                  <a:pt x="0" y="352116"/>
                </a:lnTo>
                <a:cubicBezTo>
                  <a:pt x="0" y="157647"/>
                  <a:pt x="157647" y="0"/>
                  <a:pt x="352116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5144830" y="2083353"/>
            <a:ext cx="237678" cy="211269"/>
          </a:xfrm>
          <a:custGeom>
            <a:avLst/>
            <a:gdLst/>
            <a:ahLst/>
            <a:cxnLst/>
            <a:rect l="l" t="t" r="r" b="b"/>
            <a:pathLst>
              <a:path w="237678" h="211269" extrusionOk="0">
                <a:moveTo>
                  <a:pt x="59419" y="198065"/>
                </a:moveTo>
                <a:cubicBezTo>
                  <a:pt x="26615" y="198065"/>
                  <a:pt x="0" y="171450"/>
                  <a:pt x="0" y="138645"/>
                </a:cubicBezTo>
                <a:cubicBezTo>
                  <a:pt x="0" y="112484"/>
                  <a:pt x="16918" y="90285"/>
                  <a:pt x="40397" y="82321"/>
                </a:cubicBezTo>
                <a:cubicBezTo>
                  <a:pt x="39861" y="79143"/>
                  <a:pt x="39613" y="75925"/>
                  <a:pt x="39613" y="72624"/>
                </a:cubicBezTo>
                <a:cubicBezTo>
                  <a:pt x="39613" y="39819"/>
                  <a:pt x="66228" y="13204"/>
                  <a:pt x="99032" y="13204"/>
                </a:cubicBezTo>
                <a:cubicBezTo>
                  <a:pt x="121892" y="13204"/>
                  <a:pt x="141740" y="26120"/>
                  <a:pt x="151685" y="45019"/>
                </a:cubicBezTo>
                <a:cubicBezTo>
                  <a:pt x="157544" y="41594"/>
                  <a:pt x="164394" y="39613"/>
                  <a:pt x="171656" y="39613"/>
                </a:cubicBezTo>
                <a:cubicBezTo>
                  <a:pt x="193526" y="39613"/>
                  <a:pt x="211269" y="57356"/>
                  <a:pt x="211269" y="79226"/>
                </a:cubicBezTo>
                <a:cubicBezTo>
                  <a:pt x="211269" y="85704"/>
                  <a:pt x="209701" y="91853"/>
                  <a:pt x="206937" y="97258"/>
                </a:cubicBezTo>
                <a:cubicBezTo>
                  <a:pt x="225093" y="105635"/>
                  <a:pt x="237678" y="123956"/>
                  <a:pt x="237678" y="145248"/>
                </a:cubicBezTo>
                <a:cubicBezTo>
                  <a:pt x="237678" y="174421"/>
                  <a:pt x="214034" y="198065"/>
                  <a:pt x="184861" y="198065"/>
                </a:cubicBezTo>
                <a:lnTo>
                  <a:pt x="59419" y="198065"/>
                </a:lnTo>
                <a:close/>
                <a:moveTo>
                  <a:pt x="155564" y="129155"/>
                </a:moveTo>
                <a:cubicBezTo>
                  <a:pt x="159442" y="125276"/>
                  <a:pt x="159442" y="119004"/>
                  <a:pt x="155564" y="115167"/>
                </a:cubicBezTo>
                <a:cubicBezTo>
                  <a:pt x="151685" y="111329"/>
                  <a:pt x="145413" y="111288"/>
                  <a:pt x="141575" y="115167"/>
                </a:cubicBezTo>
                <a:lnTo>
                  <a:pt x="128784" y="127958"/>
                </a:lnTo>
                <a:lnTo>
                  <a:pt x="128784" y="85828"/>
                </a:lnTo>
                <a:cubicBezTo>
                  <a:pt x="128784" y="80340"/>
                  <a:pt x="124368" y="75925"/>
                  <a:pt x="118880" y="75925"/>
                </a:cubicBezTo>
                <a:cubicBezTo>
                  <a:pt x="113392" y="75925"/>
                  <a:pt x="108977" y="80340"/>
                  <a:pt x="108977" y="85828"/>
                </a:cubicBezTo>
                <a:lnTo>
                  <a:pt x="108977" y="127958"/>
                </a:lnTo>
                <a:lnTo>
                  <a:pt x="96185" y="115167"/>
                </a:lnTo>
                <a:cubicBezTo>
                  <a:pt x="92307" y="111288"/>
                  <a:pt x="86034" y="111288"/>
                  <a:pt x="82197" y="115167"/>
                </a:cubicBezTo>
                <a:cubicBezTo>
                  <a:pt x="78359" y="119045"/>
                  <a:pt x="78318" y="125317"/>
                  <a:pt x="82197" y="129155"/>
                </a:cubicBezTo>
                <a:lnTo>
                  <a:pt x="111907" y="158865"/>
                </a:lnTo>
                <a:cubicBezTo>
                  <a:pt x="115785" y="162743"/>
                  <a:pt x="122058" y="162743"/>
                  <a:pt x="125895" y="158865"/>
                </a:cubicBezTo>
                <a:lnTo>
                  <a:pt x="155605" y="1291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4906693" y="2646738"/>
            <a:ext cx="774654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Coleta Dados</a:t>
            </a:r>
            <a:endParaRPr sz="1600" b="0" i="0" u="none" strike="noStrike" cap="none"/>
          </a:p>
        </p:txBody>
      </p:sp>
      <p:sp>
        <p:nvSpPr>
          <p:cNvPr id="281" name="Google Shape;281;p11"/>
          <p:cNvSpPr/>
          <p:nvPr/>
        </p:nvSpPr>
        <p:spPr>
          <a:xfrm>
            <a:off x="5110994" y="2822796"/>
            <a:ext cx="360918" cy="14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2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 BC</a:t>
            </a:r>
            <a:endParaRPr sz="1600" b="0" i="0" u="none" strike="noStrike" cap="none"/>
          </a:p>
        </p:txBody>
      </p:sp>
      <p:sp>
        <p:nvSpPr>
          <p:cNvPr id="282" name="Google Shape;282;p11"/>
          <p:cNvSpPr/>
          <p:nvPr/>
        </p:nvSpPr>
        <p:spPr>
          <a:xfrm>
            <a:off x="5761490" y="2277017"/>
            <a:ext cx="563385" cy="35212"/>
          </a:xfrm>
          <a:custGeom>
            <a:avLst/>
            <a:gdLst/>
            <a:ahLst/>
            <a:cxnLst/>
            <a:rect l="l" t="t" r="r" b="b"/>
            <a:pathLst>
              <a:path w="563385" h="35212" extrusionOk="0">
                <a:moveTo>
                  <a:pt x="0" y="0"/>
                </a:moveTo>
                <a:lnTo>
                  <a:pt x="563385" y="0"/>
                </a:lnTo>
                <a:lnTo>
                  <a:pt x="563385" y="35212"/>
                </a:lnTo>
                <a:lnTo>
                  <a:pt x="0" y="35212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283" name="Google Shape;283;p11"/>
          <p:cNvSpPr/>
          <p:nvPr/>
        </p:nvSpPr>
        <p:spPr>
          <a:xfrm>
            <a:off x="5972760" y="2382651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 extrusionOk="0">
                <a:moveTo>
                  <a:pt x="138260" y="76640"/>
                </a:moveTo>
                <a:cubicBezTo>
                  <a:pt x="141699" y="73202"/>
                  <a:pt x="141699" y="67617"/>
                  <a:pt x="138260" y="64179"/>
                </a:cubicBezTo>
                <a:lnTo>
                  <a:pt x="94246" y="20164"/>
                </a:lnTo>
                <a:cubicBezTo>
                  <a:pt x="90807" y="16725"/>
                  <a:pt x="85223" y="16725"/>
                  <a:pt x="81784" y="20164"/>
                </a:cubicBezTo>
                <a:cubicBezTo>
                  <a:pt x="78346" y="23603"/>
                  <a:pt x="78346" y="29187"/>
                  <a:pt x="81784" y="32626"/>
                </a:cubicBezTo>
                <a:lnTo>
                  <a:pt x="110779" y="61620"/>
                </a:lnTo>
                <a:lnTo>
                  <a:pt x="8803" y="61620"/>
                </a:lnTo>
                <a:cubicBezTo>
                  <a:pt x="3934" y="61620"/>
                  <a:pt x="0" y="65554"/>
                  <a:pt x="0" y="70423"/>
                </a:cubicBezTo>
                <a:cubicBezTo>
                  <a:pt x="0" y="75292"/>
                  <a:pt x="3934" y="79226"/>
                  <a:pt x="8803" y="79226"/>
                </a:cubicBezTo>
                <a:lnTo>
                  <a:pt x="110779" y="79226"/>
                </a:lnTo>
                <a:lnTo>
                  <a:pt x="81784" y="108221"/>
                </a:lnTo>
                <a:cubicBezTo>
                  <a:pt x="78346" y="111659"/>
                  <a:pt x="78346" y="117243"/>
                  <a:pt x="81784" y="120682"/>
                </a:cubicBezTo>
                <a:cubicBezTo>
                  <a:pt x="85223" y="124121"/>
                  <a:pt x="90807" y="124121"/>
                  <a:pt x="94246" y="120682"/>
                </a:cubicBezTo>
                <a:lnTo>
                  <a:pt x="138260" y="76668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6478100" y="1836872"/>
            <a:ext cx="704231" cy="704231"/>
          </a:xfrm>
          <a:custGeom>
            <a:avLst/>
            <a:gdLst/>
            <a:ahLst/>
            <a:cxnLst/>
            <a:rect l="l" t="t" r="r" b="b"/>
            <a:pathLst>
              <a:path w="704231" h="704231" extrusionOk="0">
                <a:moveTo>
                  <a:pt x="352116" y="0"/>
                </a:moveTo>
                <a:lnTo>
                  <a:pt x="352116" y="0"/>
                </a:lnTo>
                <a:cubicBezTo>
                  <a:pt x="546584" y="0"/>
                  <a:pt x="704231" y="157647"/>
                  <a:pt x="704231" y="352116"/>
                </a:cubicBezTo>
                <a:lnTo>
                  <a:pt x="704231" y="352116"/>
                </a:lnTo>
                <a:cubicBezTo>
                  <a:pt x="704231" y="546584"/>
                  <a:pt x="546584" y="704231"/>
                  <a:pt x="352116" y="704231"/>
                </a:cubicBezTo>
                <a:lnTo>
                  <a:pt x="352116" y="704231"/>
                </a:lnTo>
                <a:cubicBezTo>
                  <a:pt x="157647" y="704231"/>
                  <a:pt x="0" y="546584"/>
                  <a:pt x="0" y="352116"/>
                </a:cubicBezTo>
                <a:lnTo>
                  <a:pt x="0" y="352116"/>
                </a:lnTo>
                <a:cubicBezTo>
                  <a:pt x="0" y="157647"/>
                  <a:pt x="157647" y="0"/>
                  <a:pt x="352116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6750990" y="2083353"/>
            <a:ext cx="158452" cy="211269"/>
          </a:xfrm>
          <a:custGeom>
            <a:avLst/>
            <a:gdLst/>
            <a:ahLst/>
            <a:cxnLst/>
            <a:rect l="l" t="t" r="r" b="b"/>
            <a:pathLst>
              <a:path w="158452" h="211269" extrusionOk="0">
                <a:moveTo>
                  <a:pt x="0" y="26409"/>
                </a:moveTo>
                <a:cubicBezTo>
                  <a:pt x="0" y="11843"/>
                  <a:pt x="11843" y="0"/>
                  <a:pt x="26409" y="0"/>
                </a:cubicBezTo>
                <a:lnTo>
                  <a:pt x="88098" y="0"/>
                </a:lnTo>
                <a:cubicBezTo>
                  <a:pt x="95112" y="0"/>
                  <a:pt x="101838" y="2765"/>
                  <a:pt x="106790" y="7716"/>
                </a:cubicBezTo>
                <a:lnTo>
                  <a:pt x="150736" y="51703"/>
                </a:lnTo>
                <a:cubicBezTo>
                  <a:pt x="155687" y="56655"/>
                  <a:pt x="158452" y="63381"/>
                  <a:pt x="158452" y="70396"/>
                </a:cubicBezTo>
                <a:lnTo>
                  <a:pt x="158452" y="184861"/>
                </a:lnTo>
                <a:cubicBezTo>
                  <a:pt x="158452" y="199427"/>
                  <a:pt x="146609" y="211269"/>
                  <a:pt x="132043" y="211269"/>
                </a:cubicBezTo>
                <a:lnTo>
                  <a:pt x="26409" y="211269"/>
                </a:lnTo>
                <a:cubicBezTo>
                  <a:pt x="11843" y="211269"/>
                  <a:pt x="0" y="199427"/>
                  <a:pt x="0" y="184861"/>
                </a:cubicBezTo>
                <a:lnTo>
                  <a:pt x="0" y="26409"/>
                </a:lnTo>
                <a:close/>
                <a:moveTo>
                  <a:pt x="85828" y="24139"/>
                </a:moveTo>
                <a:lnTo>
                  <a:pt x="85828" y="62721"/>
                </a:lnTo>
                <a:cubicBezTo>
                  <a:pt x="85828" y="68209"/>
                  <a:pt x="90243" y="72624"/>
                  <a:pt x="95731" y="72624"/>
                </a:cubicBezTo>
                <a:lnTo>
                  <a:pt x="134313" y="72624"/>
                </a:lnTo>
                <a:lnTo>
                  <a:pt x="85828" y="24139"/>
                </a:lnTo>
                <a:close/>
                <a:moveTo>
                  <a:pt x="67672" y="110050"/>
                </a:moveTo>
                <a:cubicBezTo>
                  <a:pt x="64619" y="105511"/>
                  <a:pt x="58470" y="104273"/>
                  <a:pt x="53931" y="107285"/>
                </a:cubicBezTo>
                <a:cubicBezTo>
                  <a:pt x="49392" y="110297"/>
                  <a:pt x="48155" y="116487"/>
                  <a:pt x="51167" y="121026"/>
                </a:cubicBezTo>
                <a:lnTo>
                  <a:pt x="67342" y="145248"/>
                </a:lnTo>
                <a:lnTo>
                  <a:pt x="51167" y="169469"/>
                </a:lnTo>
                <a:cubicBezTo>
                  <a:pt x="48113" y="174008"/>
                  <a:pt x="49351" y="180157"/>
                  <a:pt x="53931" y="183210"/>
                </a:cubicBezTo>
                <a:cubicBezTo>
                  <a:pt x="58512" y="186264"/>
                  <a:pt x="64619" y="185026"/>
                  <a:pt x="67672" y="180445"/>
                </a:cubicBezTo>
                <a:lnTo>
                  <a:pt x="79226" y="163115"/>
                </a:lnTo>
                <a:lnTo>
                  <a:pt x="90780" y="180445"/>
                </a:lnTo>
                <a:cubicBezTo>
                  <a:pt x="93833" y="184984"/>
                  <a:pt x="99982" y="186222"/>
                  <a:pt x="104521" y="183210"/>
                </a:cubicBezTo>
                <a:cubicBezTo>
                  <a:pt x="109060" y="180198"/>
                  <a:pt x="110297" y="174008"/>
                  <a:pt x="107285" y="169469"/>
                </a:cubicBezTo>
                <a:lnTo>
                  <a:pt x="91110" y="145248"/>
                </a:lnTo>
                <a:lnTo>
                  <a:pt x="107285" y="121026"/>
                </a:lnTo>
                <a:cubicBezTo>
                  <a:pt x="110339" y="116487"/>
                  <a:pt x="109101" y="110339"/>
                  <a:pt x="104521" y="107285"/>
                </a:cubicBezTo>
                <a:cubicBezTo>
                  <a:pt x="99940" y="104232"/>
                  <a:pt x="93833" y="105470"/>
                  <a:pt x="90780" y="110050"/>
                </a:cubicBezTo>
                <a:lnTo>
                  <a:pt x="79226" y="127381"/>
                </a:lnTo>
                <a:lnTo>
                  <a:pt x="67672" y="1100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6465721" y="2646738"/>
            <a:ext cx="792260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Atualiza Excel</a:t>
            </a:r>
            <a:endParaRPr sz="1600" b="0" i="0" u="none" strike="noStrike" cap="none"/>
          </a:p>
        </p:txBody>
      </p:sp>
      <p:sp>
        <p:nvSpPr>
          <p:cNvPr id="287" name="Google Shape;287;p11"/>
          <p:cNvSpPr/>
          <p:nvPr/>
        </p:nvSpPr>
        <p:spPr>
          <a:xfrm>
            <a:off x="6616563" y="2822796"/>
            <a:ext cx="484159" cy="14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2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Database</a:t>
            </a:r>
            <a:endParaRPr sz="1600" b="0" i="0" u="none" strike="noStrike" cap="none"/>
          </a:p>
        </p:txBody>
      </p:sp>
      <p:sp>
        <p:nvSpPr>
          <p:cNvPr id="288" name="Google Shape;288;p11"/>
          <p:cNvSpPr/>
          <p:nvPr/>
        </p:nvSpPr>
        <p:spPr>
          <a:xfrm>
            <a:off x="7335557" y="2277017"/>
            <a:ext cx="563385" cy="35212"/>
          </a:xfrm>
          <a:custGeom>
            <a:avLst/>
            <a:gdLst/>
            <a:ahLst/>
            <a:cxnLst/>
            <a:rect l="l" t="t" r="r" b="b"/>
            <a:pathLst>
              <a:path w="563385" h="35212" extrusionOk="0">
                <a:moveTo>
                  <a:pt x="0" y="0"/>
                </a:moveTo>
                <a:lnTo>
                  <a:pt x="563385" y="0"/>
                </a:lnTo>
                <a:lnTo>
                  <a:pt x="563385" y="35212"/>
                </a:lnTo>
                <a:lnTo>
                  <a:pt x="0" y="35212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289" name="Google Shape;289;p11"/>
          <p:cNvSpPr/>
          <p:nvPr/>
        </p:nvSpPr>
        <p:spPr>
          <a:xfrm>
            <a:off x="7546826" y="2382651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 extrusionOk="0">
                <a:moveTo>
                  <a:pt x="138260" y="76640"/>
                </a:moveTo>
                <a:cubicBezTo>
                  <a:pt x="141699" y="73202"/>
                  <a:pt x="141699" y="67617"/>
                  <a:pt x="138260" y="64179"/>
                </a:cubicBezTo>
                <a:lnTo>
                  <a:pt x="94246" y="20164"/>
                </a:lnTo>
                <a:cubicBezTo>
                  <a:pt x="90807" y="16725"/>
                  <a:pt x="85223" y="16725"/>
                  <a:pt x="81784" y="20164"/>
                </a:cubicBezTo>
                <a:cubicBezTo>
                  <a:pt x="78346" y="23603"/>
                  <a:pt x="78346" y="29187"/>
                  <a:pt x="81784" y="32626"/>
                </a:cubicBezTo>
                <a:lnTo>
                  <a:pt x="110779" y="61620"/>
                </a:lnTo>
                <a:lnTo>
                  <a:pt x="8803" y="61620"/>
                </a:lnTo>
                <a:cubicBezTo>
                  <a:pt x="3934" y="61620"/>
                  <a:pt x="0" y="65554"/>
                  <a:pt x="0" y="70423"/>
                </a:cubicBezTo>
                <a:cubicBezTo>
                  <a:pt x="0" y="75292"/>
                  <a:pt x="3934" y="79226"/>
                  <a:pt x="8803" y="79226"/>
                </a:cubicBezTo>
                <a:lnTo>
                  <a:pt x="110779" y="79226"/>
                </a:lnTo>
                <a:lnTo>
                  <a:pt x="81784" y="108221"/>
                </a:lnTo>
                <a:cubicBezTo>
                  <a:pt x="78346" y="111659"/>
                  <a:pt x="78346" y="117243"/>
                  <a:pt x="81784" y="120682"/>
                </a:cubicBezTo>
                <a:cubicBezTo>
                  <a:pt x="85223" y="124121"/>
                  <a:pt x="90807" y="124121"/>
                  <a:pt x="94246" y="120682"/>
                </a:cubicBezTo>
                <a:lnTo>
                  <a:pt x="138260" y="76668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8084536" y="1836872"/>
            <a:ext cx="704231" cy="704231"/>
          </a:xfrm>
          <a:custGeom>
            <a:avLst/>
            <a:gdLst/>
            <a:ahLst/>
            <a:cxnLst/>
            <a:rect l="l" t="t" r="r" b="b"/>
            <a:pathLst>
              <a:path w="704231" h="704231" extrusionOk="0">
                <a:moveTo>
                  <a:pt x="352116" y="0"/>
                </a:moveTo>
                <a:lnTo>
                  <a:pt x="352116" y="0"/>
                </a:lnTo>
                <a:cubicBezTo>
                  <a:pt x="546584" y="0"/>
                  <a:pt x="704231" y="157647"/>
                  <a:pt x="704231" y="352116"/>
                </a:cubicBezTo>
                <a:lnTo>
                  <a:pt x="704231" y="352116"/>
                </a:lnTo>
                <a:cubicBezTo>
                  <a:pt x="704231" y="546584"/>
                  <a:pt x="546584" y="704231"/>
                  <a:pt x="352116" y="704231"/>
                </a:cubicBezTo>
                <a:lnTo>
                  <a:pt x="352116" y="704231"/>
                </a:lnTo>
                <a:cubicBezTo>
                  <a:pt x="157647" y="704231"/>
                  <a:pt x="0" y="546584"/>
                  <a:pt x="0" y="352116"/>
                </a:cubicBezTo>
                <a:lnTo>
                  <a:pt x="0" y="352116"/>
                </a:lnTo>
                <a:cubicBezTo>
                  <a:pt x="0" y="157647"/>
                  <a:pt x="157647" y="0"/>
                  <a:pt x="352116" y="0"/>
                </a:cubicBezTo>
                <a:close/>
              </a:path>
            </a:pathLst>
          </a:custGeom>
          <a:solidFill>
            <a:srgbClr val="6A6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8344221" y="2083353"/>
            <a:ext cx="184861" cy="211269"/>
          </a:xfrm>
          <a:custGeom>
            <a:avLst/>
            <a:gdLst/>
            <a:ahLst/>
            <a:cxnLst/>
            <a:rect l="l" t="t" r="r" b="b"/>
            <a:pathLst>
              <a:path w="184861" h="211269" extrusionOk="0">
                <a:moveTo>
                  <a:pt x="26409" y="13204"/>
                </a:moveTo>
                <a:cubicBezTo>
                  <a:pt x="11843" y="13204"/>
                  <a:pt x="0" y="25047"/>
                  <a:pt x="0" y="39613"/>
                </a:cubicBezTo>
                <a:lnTo>
                  <a:pt x="0" y="171656"/>
                </a:lnTo>
                <a:cubicBezTo>
                  <a:pt x="0" y="186222"/>
                  <a:pt x="11843" y="198065"/>
                  <a:pt x="26409" y="198065"/>
                </a:cubicBezTo>
                <a:lnTo>
                  <a:pt x="158452" y="198065"/>
                </a:lnTo>
                <a:cubicBezTo>
                  <a:pt x="173018" y="198065"/>
                  <a:pt x="184861" y="186222"/>
                  <a:pt x="184861" y="171656"/>
                </a:cubicBezTo>
                <a:lnTo>
                  <a:pt x="184861" y="71510"/>
                </a:lnTo>
                <a:cubicBezTo>
                  <a:pt x="184861" y="64495"/>
                  <a:pt x="182096" y="57769"/>
                  <a:pt x="177144" y="52817"/>
                </a:cubicBezTo>
                <a:lnTo>
                  <a:pt x="145248" y="20921"/>
                </a:lnTo>
                <a:cubicBezTo>
                  <a:pt x="140296" y="15969"/>
                  <a:pt x="133570" y="13204"/>
                  <a:pt x="126555" y="13204"/>
                </a:cubicBezTo>
                <a:lnTo>
                  <a:pt x="26409" y="13204"/>
                </a:lnTo>
                <a:close/>
                <a:moveTo>
                  <a:pt x="39613" y="52817"/>
                </a:moveTo>
                <a:cubicBezTo>
                  <a:pt x="39613" y="45514"/>
                  <a:pt x="45514" y="39613"/>
                  <a:pt x="52817" y="39613"/>
                </a:cubicBezTo>
                <a:lnTo>
                  <a:pt x="118839" y="39613"/>
                </a:lnTo>
                <a:cubicBezTo>
                  <a:pt x="126143" y="39613"/>
                  <a:pt x="132043" y="45514"/>
                  <a:pt x="132043" y="52817"/>
                </a:cubicBezTo>
                <a:lnTo>
                  <a:pt x="132043" y="79226"/>
                </a:lnTo>
                <a:cubicBezTo>
                  <a:pt x="132043" y="86530"/>
                  <a:pt x="126143" y="92430"/>
                  <a:pt x="118839" y="92430"/>
                </a:cubicBezTo>
                <a:lnTo>
                  <a:pt x="52817" y="92430"/>
                </a:lnTo>
                <a:cubicBezTo>
                  <a:pt x="45514" y="92430"/>
                  <a:pt x="39613" y="86530"/>
                  <a:pt x="39613" y="79226"/>
                </a:cubicBezTo>
                <a:lnTo>
                  <a:pt x="39613" y="52817"/>
                </a:lnTo>
                <a:close/>
                <a:moveTo>
                  <a:pt x="92430" y="118839"/>
                </a:moveTo>
                <a:cubicBezTo>
                  <a:pt x="107006" y="118839"/>
                  <a:pt x="118839" y="130672"/>
                  <a:pt x="118839" y="145248"/>
                </a:cubicBezTo>
                <a:cubicBezTo>
                  <a:pt x="118839" y="159823"/>
                  <a:pt x="107006" y="171656"/>
                  <a:pt x="92430" y="171656"/>
                </a:cubicBezTo>
                <a:cubicBezTo>
                  <a:pt x="77855" y="171656"/>
                  <a:pt x="66022" y="159823"/>
                  <a:pt x="66022" y="145248"/>
                </a:cubicBezTo>
                <a:cubicBezTo>
                  <a:pt x="66022" y="130672"/>
                  <a:pt x="77855" y="118839"/>
                  <a:pt x="92430" y="1188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8039788" y="2646738"/>
            <a:ext cx="853880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Salva Histórico</a:t>
            </a:r>
            <a:endParaRPr sz="1600" b="0" i="0" u="none" strike="noStrike" cap="none"/>
          </a:p>
        </p:txBody>
      </p:sp>
      <p:sp>
        <p:nvSpPr>
          <p:cNvPr id="293" name="Google Shape;293;p11"/>
          <p:cNvSpPr/>
          <p:nvPr/>
        </p:nvSpPr>
        <p:spPr>
          <a:xfrm>
            <a:off x="8353941" y="2822796"/>
            <a:ext cx="220072" cy="14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2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Fim</a:t>
            </a:r>
            <a:endParaRPr sz="1600" b="0" i="0" u="none" strike="noStrike" cap="none"/>
          </a:p>
        </p:txBody>
      </p:sp>
      <p:sp>
        <p:nvSpPr>
          <p:cNvPr id="294" name="Google Shape;294;p11"/>
          <p:cNvSpPr/>
          <p:nvPr/>
        </p:nvSpPr>
        <p:spPr>
          <a:xfrm>
            <a:off x="355050" y="3359770"/>
            <a:ext cx="5648520" cy="3174908"/>
          </a:xfrm>
          <a:custGeom>
            <a:avLst/>
            <a:gdLst/>
            <a:ahLst/>
            <a:cxnLst/>
            <a:rect l="l" t="t" r="r" b="b"/>
            <a:pathLst>
              <a:path w="5648520" h="3174908" extrusionOk="0">
                <a:moveTo>
                  <a:pt x="105629" y="0"/>
                </a:moveTo>
                <a:lnTo>
                  <a:pt x="5542891" y="0"/>
                </a:lnTo>
                <a:cubicBezTo>
                  <a:pt x="5601228" y="0"/>
                  <a:pt x="5648520" y="47292"/>
                  <a:pt x="5648520" y="105629"/>
                </a:cubicBezTo>
                <a:lnTo>
                  <a:pt x="5648520" y="3069279"/>
                </a:lnTo>
                <a:cubicBezTo>
                  <a:pt x="5648520" y="3127617"/>
                  <a:pt x="5601228" y="3174908"/>
                  <a:pt x="5542891" y="3174908"/>
                </a:cubicBezTo>
                <a:lnTo>
                  <a:pt x="105629" y="3174908"/>
                </a:lnTo>
                <a:cubicBezTo>
                  <a:pt x="47292" y="3174908"/>
                  <a:pt x="0" y="3127617"/>
                  <a:pt x="0" y="3069279"/>
                </a:cubicBezTo>
                <a:lnTo>
                  <a:pt x="0" y="105629"/>
                </a:lnTo>
                <a:cubicBezTo>
                  <a:pt x="0" y="47331"/>
                  <a:pt x="47331" y="0"/>
                  <a:pt x="105629" y="0"/>
                </a:cubicBezTo>
                <a:close/>
              </a:path>
            </a:pathLst>
          </a:custGeom>
          <a:solidFill>
            <a:srgbClr val="2D2D2D"/>
          </a:soli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556049" y="3582775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 extrusionOk="0">
                <a:moveTo>
                  <a:pt x="0" y="22282"/>
                </a:moveTo>
                <a:cubicBezTo>
                  <a:pt x="0" y="18197"/>
                  <a:pt x="3311" y="14855"/>
                  <a:pt x="7427" y="14855"/>
                </a:cubicBezTo>
                <a:lnTo>
                  <a:pt x="22282" y="14855"/>
                </a:lnTo>
                <a:cubicBezTo>
                  <a:pt x="26398" y="14855"/>
                  <a:pt x="29710" y="18166"/>
                  <a:pt x="29710" y="22282"/>
                </a:cubicBezTo>
                <a:lnTo>
                  <a:pt x="29710" y="54468"/>
                </a:lnTo>
                <a:lnTo>
                  <a:pt x="37137" y="54468"/>
                </a:lnTo>
                <a:cubicBezTo>
                  <a:pt x="41253" y="54468"/>
                  <a:pt x="44565" y="57779"/>
                  <a:pt x="44565" y="61895"/>
                </a:cubicBezTo>
                <a:cubicBezTo>
                  <a:pt x="44565" y="66011"/>
                  <a:pt x="41253" y="69323"/>
                  <a:pt x="37137" y="69323"/>
                </a:cubicBezTo>
                <a:lnTo>
                  <a:pt x="7427" y="69323"/>
                </a:lnTo>
                <a:cubicBezTo>
                  <a:pt x="3311" y="69323"/>
                  <a:pt x="0" y="66011"/>
                  <a:pt x="0" y="61895"/>
                </a:cubicBezTo>
                <a:cubicBezTo>
                  <a:pt x="0" y="57779"/>
                  <a:pt x="3311" y="54468"/>
                  <a:pt x="7427" y="54468"/>
                </a:cubicBezTo>
                <a:lnTo>
                  <a:pt x="14855" y="54468"/>
                </a:lnTo>
                <a:lnTo>
                  <a:pt x="14855" y="29710"/>
                </a:lnTo>
                <a:lnTo>
                  <a:pt x="7427" y="29710"/>
                </a:lnTo>
                <a:cubicBezTo>
                  <a:pt x="3311" y="29710"/>
                  <a:pt x="0" y="26398"/>
                  <a:pt x="0" y="22282"/>
                </a:cubicBezTo>
                <a:close/>
                <a:moveTo>
                  <a:pt x="9408" y="93214"/>
                </a:moveTo>
                <a:cubicBezTo>
                  <a:pt x="12936" y="90553"/>
                  <a:pt x="17238" y="89129"/>
                  <a:pt x="21663" y="89129"/>
                </a:cubicBezTo>
                <a:lnTo>
                  <a:pt x="23180" y="89129"/>
                </a:lnTo>
                <a:cubicBezTo>
                  <a:pt x="33609" y="89129"/>
                  <a:pt x="42089" y="97609"/>
                  <a:pt x="42089" y="108038"/>
                </a:cubicBezTo>
                <a:cubicBezTo>
                  <a:pt x="42089" y="114104"/>
                  <a:pt x="39180" y="119767"/>
                  <a:pt x="34290" y="123326"/>
                </a:cubicBezTo>
                <a:lnTo>
                  <a:pt x="26863" y="128742"/>
                </a:lnTo>
                <a:lnTo>
                  <a:pt x="37137" y="128742"/>
                </a:lnTo>
                <a:cubicBezTo>
                  <a:pt x="41253" y="128742"/>
                  <a:pt x="44565" y="132054"/>
                  <a:pt x="44565" y="136170"/>
                </a:cubicBezTo>
                <a:cubicBezTo>
                  <a:pt x="44565" y="140286"/>
                  <a:pt x="41253" y="143597"/>
                  <a:pt x="37137" y="143597"/>
                </a:cubicBezTo>
                <a:lnTo>
                  <a:pt x="9068" y="143597"/>
                </a:lnTo>
                <a:cubicBezTo>
                  <a:pt x="4054" y="143597"/>
                  <a:pt x="0" y="139543"/>
                  <a:pt x="0" y="134529"/>
                </a:cubicBezTo>
                <a:cubicBezTo>
                  <a:pt x="0" y="131620"/>
                  <a:pt x="1393" y="128897"/>
                  <a:pt x="3745" y="127195"/>
                </a:cubicBezTo>
                <a:lnTo>
                  <a:pt x="25563" y="111319"/>
                </a:lnTo>
                <a:cubicBezTo>
                  <a:pt x="26615" y="110545"/>
                  <a:pt x="27234" y="109338"/>
                  <a:pt x="27234" y="108038"/>
                </a:cubicBezTo>
                <a:cubicBezTo>
                  <a:pt x="27234" y="105810"/>
                  <a:pt x="25408" y="103984"/>
                  <a:pt x="23180" y="103984"/>
                </a:cubicBezTo>
                <a:lnTo>
                  <a:pt x="21663" y="103984"/>
                </a:lnTo>
                <a:cubicBezTo>
                  <a:pt x="20456" y="103984"/>
                  <a:pt x="19280" y="104386"/>
                  <a:pt x="18321" y="105098"/>
                </a:cubicBezTo>
                <a:lnTo>
                  <a:pt x="11884" y="109926"/>
                </a:lnTo>
                <a:cubicBezTo>
                  <a:pt x="8603" y="112402"/>
                  <a:pt x="3961" y="111721"/>
                  <a:pt x="1485" y="108441"/>
                </a:cubicBezTo>
                <a:cubicBezTo>
                  <a:pt x="-990" y="105160"/>
                  <a:pt x="-309" y="100518"/>
                  <a:pt x="2971" y="98042"/>
                </a:cubicBezTo>
                <a:lnTo>
                  <a:pt x="9408" y="93214"/>
                </a:lnTo>
                <a:close/>
                <a:moveTo>
                  <a:pt x="69323" y="19806"/>
                </a:moveTo>
                <a:lnTo>
                  <a:pt x="148549" y="19806"/>
                </a:lnTo>
                <a:cubicBezTo>
                  <a:pt x="154026" y="19806"/>
                  <a:pt x="158452" y="24232"/>
                  <a:pt x="158452" y="29710"/>
                </a:cubicBezTo>
                <a:cubicBezTo>
                  <a:pt x="158452" y="35187"/>
                  <a:pt x="154026" y="39613"/>
                  <a:pt x="148549" y="39613"/>
                </a:cubicBezTo>
                <a:lnTo>
                  <a:pt x="69323" y="39613"/>
                </a:lnTo>
                <a:cubicBezTo>
                  <a:pt x="63845" y="39613"/>
                  <a:pt x="59419" y="35187"/>
                  <a:pt x="59419" y="29710"/>
                </a:cubicBezTo>
                <a:cubicBezTo>
                  <a:pt x="59419" y="24232"/>
                  <a:pt x="63845" y="19806"/>
                  <a:pt x="69323" y="19806"/>
                </a:cubicBezTo>
                <a:close/>
                <a:moveTo>
                  <a:pt x="69323" y="69323"/>
                </a:moveTo>
                <a:lnTo>
                  <a:pt x="148549" y="69323"/>
                </a:lnTo>
                <a:cubicBezTo>
                  <a:pt x="154026" y="69323"/>
                  <a:pt x="158452" y="73748"/>
                  <a:pt x="158452" y="79226"/>
                </a:cubicBezTo>
                <a:cubicBezTo>
                  <a:pt x="158452" y="84704"/>
                  <a:pt x="154026" y="89129"/>
                  <a:pt x="148549" y="89129"/>
                </a:cubicBezTo>
                <a:lnTo>
                  <a:pt x="69323" y="89129"/>
                </a:lnTo>
                <a:cubicBezTo>
                  <a:pt x="63845" y="89129"/>
                  <a:pt x="59419" y="84704"/>
                  <a:pt x="59419" y="79226"/>
                </a:cubicBezTo>
                <a:cubicBezTo>
                  <a:pt x="59419" y="73748"/>
                  <a:pt x="63845" y="69323"/>
                  <a:pt x="69323" y="69323"/>
                </a:cubicBezTo>
                <a:close/>
                <a:moveTo>
                  <a:pt x="69323" y="118839"/>
                </a:moveTo>
                <a:lnTo>
                  <a:pt x="148549" y="118839"/>
                </a:lnTo>
                <a:cubicBezTo>
                  <a:pt x="154026" y="118839"/>
                  <a:pt x="158452" y="123265"/>
                  <a:pt x="158452" y="128742"/>
                </a:cubicBezTo>
                <a:cubicBezTo>
                  <a:pt x="158452" y="134220"/>
                  <a:pt x="154026" y="138645"/>
                  <a:pt x="148549" y="138645"/>
                </a:cubicBezTo>
                <a:lnTo>
                  <a:pt x="69323" y="138645"/>
                </a:lnTo>
                <a:cubicBezTo>
                  <a:pt x="63845" y="138645"/>
                  <a:pt x="59419" y="134220"/>
                  <a:pt x="59419" y="128742"/>
                </a:cubicBezTo>
                <a:cubicBezTo>
                  <a:pt x="59419" y="123265"/>
                  <a:pt x="63845" y="118839"/>
                  <a:pt x="69323" y="118839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736508" y="3538761"/>
            <a:ext cx="5167295" cy="24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8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Passos Detalhados</a:t>
            </a:r>
            <a:endParaRPr sz="1600" b="0" i="0" u="none" strike="noStrike" cap="none"/>
          </a:p>
        </p:txBody>
      </p:sp>
      <p:sp>
        <p:nvSpPr>
          <p:cNvPr id="297" name="Google Shape;297;p11"/>
          <p:cNvSpPr/>
          <p:nvPr/>
        </p:nvSpPr>
        <p:spPr>
          <a:xfrm>
            <a:off x="534042" y="3926088"/>
            <a:ext cx="5290536" cy="528173"/>
          </a:xfrm>
          <a:custGeom>
            <a:avLst/>
            <a:gdLst/>
            <a:ahLst/>
            <a:cxnLst/>
            <a:rect l="l" t="t" r="r" b="b"/>
            <a:pathLst>
              <a:path w="5290536" h="528173" extrusionOk="0">
                <a:moveTo>
                  <a:pt x="70421" y="0"/>
                </a:moveTo>
                <a:lnTo>
                  <a:pt x="5220114" y="0"/>
                </a:lnTo>
                <a:cubicBezTo>
                  <a:pt x="5259007" y="0"/>
                  <a:pt x="5290536" y="31529"/>
                  <a:pt x="5290536" y="70421"/>
                </a:cubicBezTo>
                <a:lnTo>
                  <a:pt x="5290536" y="457752"/>
                </a:lnTo>
                <a:cubicBezTo>
                  <a:pt x="5290536" y="496645"/>
                  <a:pt x="5259007" y="528173"/>
                  <a:pt x="5220114" y="528173"/>
                </a:cubicBezTo>
                <a:lnTo>
                  <a:pt x="70421" y="528173"/>
                </a:lnTo>
                <a:cubicBezTo>
                  <a:pt x="31529" y="528173"/>
                  <a:pt x="0" y="496645"/>
                  <a:pt x="0" y="457752"/>
                </a:cubicBezTo>
                <a:lnTo>
                  <a:pt x="0" y="70421"/>
                </a:lnTo>
                <a:cubicBezTo>
                  <a:pt x="0" y="31555"/>
                  <a:pt x="31555" y="0"/>
                  <a:pt x="70421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639677" y="4031723"/>
            <a:ext cx="281692" cy="281692"/>
          </a:xfrm>
          <a:custGeom>
            <a:avLst/>
            <a:gdLst/>
            <a:ahLst/>
            <a:cxnLst/>
            <a:rect l="l" t="t" r="r" b="b"/>
            <a:pathLst>
              <a:path w="281692" h="281692" extrusionOk="0">
                <a:moveTo>
                  <a:pt x="140846" y="0"/>
                </a:moveTo>
                <a:lnTo>
                  <a:pt x="140846" y="0"/>
                </a:lnTo>
                <a:cubicBezTo>
                  <a:pt x="218581" y="0"/>
                  <a:pt x="281692" y="63111"/>
                  <a:pt x="281692" y="140846"/>
                </a:cubicBezTo>
                <a:lnTo>
                  <a:pt x="281692" y="140846"/>
                </a:lnTo>
                <a:cubicBezTo>
                  <a:pt x="281692" y="218581"/>
                  <a:pt x="218581" y="281692"/>
                  <a:pt x="140846" y="281692"/>
                </a:cubicBezTo>
                <a:lnTo>
                  <a:pt x="140846" y="281692"/>
                </a:lnTo>
                <a:cubicBezTo>
                  <a:pt x="63111" y="281692"/>
                  <a:pt x="0" y="218581"/>
                  <a:pt x="0" y="140846"/>
                </a:cubicBezTo>
                <a:lnTo>
                  <a:pt x="0" y="140846"/>
                </a:lnTo>
                <a:cubicBezTo>
                  <a:pt x="0" y="63111"/>
                  <a:pt x="63111" y="0"/>
                  <a:pt x="140846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608866" y="4031723"/>
            <a:ext cx="343313" cy="28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600" b="0" i="0" u="none" strike="noStrike" cap="none"/>
          </a:p>
        </p:txBody>
      </p:sp>
      <p:sp>
        <p:nvSpPr>
          <p:cNvPr id="300" name="Google Shape;300;p11"/>
          <p:cNvSpPr/>
          <p:nvPr/>
        </p:nvSpPr>
        <p:spPr>
          <a:xfrm>
            <a:off x="1027004" y="4031723"/>
            <a:ext cx="1232404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Inicialização</a:t>
            </a:r>
            <a:endParaRPr sz="1600" b="0" i="0" u="none" strike="noStrike" cap="none"/>
          </a:p>
        </p:txBody>
      </p:sp>
      <p:sp>
        <p:nvSpPr>
          <p:cNvPr id="301" name="Google Shape;301;p11"/>
          <p:cNvSpPr/>
          <p:nvPr/>
        </p:nvSpPr>
        <p:spPr>
          <a:xfrm>
            <a:off x="1027004" y="4207781"/>
            <a:ext cx="1223601" cy="14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2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main.py inicia a execução</a:t>
            </a:r>
            <a:endParaRPr sz="1600" b="0" i="0" u="none" strike="noStrike" cap="none"/>
          </a:p>
        </p:txBody>
      </p:sp>
      <p:sp>
        <p:nvSpPr>
          <p:cNvPr id="302" name="Google Shape;302;p11"/>
          <p:cNvSpPr/>
          <p:nvPr/>
        </p:nvSpPr>
        <p:spPr>
          <a:xfrm>
            <a:off x="534042" y="4559896"/>
            <a:ext cx="5290536" cy="528173"/>
          </a:xfrm>
          <a:custGeom>
            <a:avLst/>
            <a:gdLst/>
            <a:ahLst/>
            <a:cxnLst/>
            <a:rect l="l" t="t" r="r" b="b"/>
            <a:pathLst>
              <a:path w="5290536" h="528173" extrusionOk="0">
                <a:moveTo>
                  <a:pt x="70421" y="0"/>
                </a:moveTo>
                <a:lnTo>
                  <a:pt x="5220114" y="0"/>
                </a:lnTo>
                <a:cubicBezTo>
                  <a:pt x="5259007" y="0"/>
                  <a:pt x="5290536" y="31529"/>
                  <a:pt x="5290536" y="70421"/>
                </a:cubicBezTo>
                <a:lnTo>
                  <a:pt x="5290536" y="457752"/>
                </a:lnTo>
                <a:cubicBezTo>
                  <a:pt x="5290536" y="496645"/>
                  <a:pt x="5259007" y="528173"/>
                  <a:pt x="5220114" y="528173"/>
                </a:cubicBezTo>
                <a:lnTo>
                  <a:pt x="70421" y="528173"/>
                </a:lnTo>
                <a:cubicBezTo>
                  <a:pt x="31529" y="528173"/>
                  <a:pt x="0" y="496645"/>
                  <a:pt x="0" y="457752"/>
                </a:cubicBezTo>
                <a:lnTo>
                  <a:pt x="0" y="70421"/>
                </a:lnTo>
                <a:cubicBezTo>
                  <a:pt x="0" y="31555"/>
                  <a:pt x="31555" y="0"/>
                  <a:pt x="70421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639677" y="4665531"/>
            <a:ext cx="281692" cy="281692"/>
          </a:xfrm>
          <a:custGeom>
            <a:avLst/>
            <a:gdLst/>
            <a:ahLst/>
            <a:cxnLst/>
            <a:rect l="l" t="t" r="r" b="b"/>
            <a:pathLst>
              <a:path w="281692" h="281692" extrusionOk="0">
                <a:moveTo>
                  <a:pt x="140846" y="0"/>
                </a:moveTo>
                <a:lnTo>
                  <a:pt x="140846" y="0"/>
                </a:lnTo>
                <a:cubicBezTo>
                  <a:pt x="218581" y="0"/>
                  <a:pt x="281692" y="63111"/>
                  <a:pt x="281692" y="140846"/>
                </a:cubicBezTo>
                <a:lnTo>
                  <a:pt x="281692" y="140846"/>
                </a:lnTo>
                <a:cubicBezTo>
                  <a:pt x="281692" y="218581"/>
                  <a:pt x="218581" y="281692"/>
                  <a:pt x="140846" y="281692"/>
                </a:cubicBezTo>
                <a:lnTo>
                  <a:pt x="140846" y="281692"/>
                </a:lnTo>
                <a:cubicBezTo>
                  <a:pt x="63111" y="281692"/>
                  <a:pt x="0" y="218581"/>
                  <a:pt x="0" y="140846"/>
                </a:cubicBezTo>
                <a:lnTo>
                  <a:pt x="0" y="140846"/>
                </a:lnTo>
                <a:cubicBezTo>
                  <a:pt x="0" y="63111"/>
                  <a:pt x="63111" y="0"/>
                  <a:pt x="140846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608866" y="4665531"/>
            <a:ext cx="343313" cy="28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600" b="0" i="0" u="none" strike="noStrike" cap="none"/>
          </a:p>
        </p:txBody>
      </p:sp>
      <p:sp>
        <p:nvSpPr>
          <p:cNvPr id="305" name="Google Shape;305;p11"/>
          <p:cNvSpPr/>
          <p:nvPr/>
        </p:nvSpPr>
        <p:spPr>
          <a:xfrm>
            <a:off x="1027004" y="4665531"/>
            <a:ext cx="1399659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Coleta de Dados</a:t>
            </a:r>
            <a:endParaRPr sz="1600" b="0" i="0" u="none" strike="noStrike" cap="none"/>
          </a:p>
        </p:txBody>
      </p:sp>
      <p:sp>
        <p:nvSpPr>
          <p:cNvPr id="306" name="Google Shape;306;p11"/>
          <p:cNvSpPr/>
          <p:nvPr/>
        </p:nvSpPr>
        <p:spPr>
          <a:xfrm>
            <a:off x="1027004" y="4841588"/>
            <a:ext cx="1390856" cy="14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2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coletor_dolar.py consulta API</a:t>
            </a:r>
            <a:endParaRPr sz="1600" b="0" i="0" u="none" strike="noStrike" cap="none"/>
          </a:p>
        </p:txBody>
      </p:sp>
      <p:sp>
        <p:nvSpPr>
          <p:cNvPr id="307" name="Google Shape;307;p11"/>
          <p:cNvSpPr/>
          <p:nvPr/>
        </p:nvSpPr>
        <p:spPr>
          <a:xfrm>
            <a:off x="534042" y="5193704"/>
            <a:ext cx="5290536" cy="528173"/>
          </a:xfrm>
          <a:custGeom>
            <a:avLst/>
            <a:gdLst/>
            <a:ahLst/>
            <a:cxnLst/>
            <a:rect l="l" t="t" r="r" b="b"/>
            <a:pathLst>
              <a:path w="5290536" h="528173" extrusionOk="0">
                <a:moveTo>
                  <a:pt x="70421" y="0"/>
                </a:moveTo>
                <a:lnTo>
                  <a:pt x="5220114" y="0"/>
                </a:lnTo>
                <a:cubicBezTo>
                  <a:pt x="5259007" y="0"/>
                  <a:pt x="5290536" y="31529"/>
                  <a:pt x="5290536" y="70421"/>
                </a:cubicBezTo>
                <a:lnTo>
                  <a:pt x="5290536" y="457752"/>
                </a:lnTo>
                <a:cubicBezTo>
                  <a:pt x="5290536" y="496645"/>
                  <a:pt x="5259007" y="528173"/>
                  <a:pt x="5220114" y="528173"/>
                </a:cubicBezTo>
                <a:lnTo>
                  <a:pt x="70421" y="528173"/>
                </a:lnTo>
                <a:cubicBezTo>
                  <a:pt x="31529" y="528173"/>
                  <a:pt x="0" y="496645"/>
                  <a:pt x="0" y="457752"/>
                </a:cubicBezTo>
                <a:lnTo>
                  <a:pt x="0" y="70421"/>
                </a:lnTo>
                <a:cubicBezTo>
                  <a:pt x="0" y="31555"/>
                  <a:pt x="31555" y="0"/>
                  <a:pt x="70421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639677" y="5299339"/>
            <a:ext cx="281692" cy="281692"/>
          </a:xfrm>
          <a:custGeom>
            <a:avLst/>
            <a:gdLst/>
            <a:ahLst/>
            <a:cxnLst/>
            <a:rect l="l" t="t" r="r" b="b"/>
            <a:pathLst>
              <a:path w="281692" h="281692" extrusionOk="0">
                <a:moveTo>
                  <a:pt x="140846" y="0"/>
                </a:moveTo>
                <a:lnTo>
                  <a:pt x="140846" y="0"/>
                </a:lnTo>
                <a:cubicBezTo>
                  <a:pt x="218581" y="0"/>
                  <a:pt x="281692" y="63111"/>
                  <a:pt x="281692" y="140846"/>
                </a:cubicBezTo>
                <a:lnTo>
                  <a:pt x="281692" y="140846"/>
                </a:lnTo>
                <a:cubicBezTo>
                  <a:pt x="281692" y="218581"/>
                  <a:pt x="218581" y="281692"/>
                  <a:pt x="140846" y="281692"/>
                </a:cubicBezTo>
                <a:lnTo>
                  <a:pt x="140846" y="281692"/>
                </a:lnTo>
                <a:cubicBezTo>
                  <a:pt x="63111" y="281692"/>
                  <a:pt x="0" y="218581"/>
                  <a:pt x="0" y="140846"/>
                </a:cubicBezTo>
                <a:lnTo>
                  <a:pt x="0" y="140846"/>
                </a:lnTo>
                <a:cubicBezTo>
                  <a:pt x="0" y="63111"/>
                  <a:pt x="63111" y="0"/>
                  <a:pt x="140846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608866" y="5299339"/>
            <a:ext cx="343313" cy="28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600" b="0" i="0" u="none" strike="noStrike" cap="none"/>
          </a:p>
        </p:txBody>
      </p:sp>
      <p:sp>
        <p:nvSpPr>
          <p:cNvPr id="310" name="Google Shape;310;p11"/>
          <p:cNvSpPr/>
          <p:nvPr/>
        </p:nvSpPr>
        <p:spPr>
          <a:xfrm>
            <a:off x="1027004" y="5299339"/>
            <a:ext cx="1628534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Processamento</a:t>
            </a:r>
            <a:endParaRPr sz="1600" b="0" i="0" u="none" strike="noStrike" cap="none"/>
          </a:p>
        </p:txBody>
      </p:sp>
      <p:sp>
        <p:nvSpPr>
          <p:cNvPr id="311" name="Google Shape;311;p11"/>
          <p:cNvSpPr/>
          <p:nvPr/>
        </p:nvSpPr>
        <p:spPr>
          <a:xfrm>
            <a:off x="1027004" y="5475396"/>
            <a:ext cx="1619731" cy="14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2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Dados são formatados e validados</a:t>
            </a:r>
            <a:endParaRPr sz="1600" b="0" i="0" u="none" strike="noStrike" cap="none"/>
          </a:p>
        </p:txBody>
      </p:sp>
      <p:sp>
        <p:nvSpPr>
          <p:cNvPr id="312" name="Google Shape;312;p11"/>
          <p:cNvSpPr/>
          <p:nvPr/>
        </p:nvSpPr>
        <p:spPr>
          <a:xfrm>
            <a:off x="534042" y="5827512"/>
            <a:ext cx="5290536" cy="528173"/>
          </a:xfrm>
          <a:custGeom>
            <a:avLst/>
            <a:gdLst/>
            <a:ahLst/>
            <a:cxnLst/>
            <a:rect l="l" t="t" r="r" b="b"/>
            <a:pathLst>
              <a:path w="5290536" h="528173" extrusionOk="0">
                <a:moveTo>
                  <a:pt x="70421" y="0"/>
                </a:moveTo>
                <a:lnTo>
                  <a:pt x="5220114" y="0"/>
                </a:lnTo>
                <a:cubicBezTo>
                  <a:pt x="5259007" y="0"/>
                  <a:pt x="5290536" y="31529"/>
                  <a:pt x="5290536" y="70421"/>
                </a:cubicBezTo>
                <a:lnTo>
                  <a:pt x="5290536" y="457752"/>
                </a:lnTo>
                <a:cubicBezTo>
                  <a:pt x="5290536" y="496645"/>
                  <a:pt x="5259007" y="528173"/>
                  <a:pt x="5220114" y="528173"/>
                </a:cubicBezTo>
                <a:lnTo>
                  <a:pt x="70421" y="528173"/>
                </a:lnTo>
                <a:cubicBezTo>
                  <a:pt x="31529" y="528173"/>
                  <a:pt x="0" y="496645"/>
                  <a:pt x="0" y="457752"/>
                </a:cubicBezTo>
                <a:lnTo>
                  <a:pt x="0" y="70421"/>
                </a:lnTo>
                <a:cubicBezTo>
                  <a:pt x="0" y="31555"/>
                  <a:pt x="31555" y="0"/>
                  <a:pt x="70421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639677" y="5933147"/>
            <a:ext cx="281692" cy="281692"/>
          </a:xfrm>
          <a:custGeom>
            <a:avLst/>
            <a:gdLst/>
            <a:ahLst/>
            <a:cxnLst/>
            <a:rect l="l" t="t" r="r" b="b"/>
            <a:pathLst>
              <a:path w="281692" h="281692" extrusionOk="0">
                <a:moveTo>
                  <a:pt x="140846" y="0"/>
                </a:moveTo>
                <a:lnTo>
                  <a:pt x="140846" y="0"/>
                </a:lnTo>
                <a:cubicBezTo>
                  <a:pt x="218581" y="0"/>
                  <a:pt x="281692" y="63111"/>
                  <a:pt x="281692" y="140846"/>
                </a:cubicBezTo>
                <a:lnTo>
                  <a:pt x="281692" y="140846"/>
                </a:lnTo>
                <a:cubicBezTo>
                  <a:pt x="281692" y="218581"/>
                  <a:pt x="218581" y="281692"/>
                  <a:pt x="140846" y="281692"/>
                </a:cubicBezTo>
                <a:lnTo>
                  <a:pt x="140846" y="281692"/>
                </a:lnTo>
                <a:cubicBezTo>
                  <a:pt x="63111" y="281692"/>
                  <a:pt x="0" y="218581"/>
                  <a:pt x="0" y="140846"/>
                </a:cubicBezTo>
                <a:lnTo>
                  <a:pt x="0" y="140846"/>
                </a:lnTo>
                <a:cubicBezTo>
                  <a:pt x="0" y="63111"/>
                  <a:pt x="63111" y="0"/>
                  <a:pt x="140846" y="0"/>
                </a:cubicBezTo>
                <a:close/>
              </a:path>
            </a:pathLst>
          </a:custGeom>
          <a:solidFill>
            <a:srgbClr val="9810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608866" y="5933147"/>
            <a:ext cx="343313" cy="28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600" b="0" i="0" u="none" strike="noStrike" cap="none"/>
          </a:p>
        </p:txBody>
      </p:sp>
      <p:sp>
        <p:nvSpPr>
          <p:cNvPr id="315" name="Google Shape;315;p11"/>
          <p:cNvSpPr/>
          <p:nvPr/>
        </p:nvSpPr>
        <p:spPr>
          <a:xfrm>
            <a:off x="1027004" y="5933147"/>
            <a:ext cx="1566914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Persistência</a:t>
            </a:r>
            <a:endParaRPr sz="1600" b="0" i="0" u="none" strike="noStrike" cap="none"/>
          </a:p>
        </p:txBody>
      </p:sp>
      <p:sp>
        <p:nvSpPr>
          <p:cNvPr id="316" name="Google Shape;316;p11"/>
          <p:cNvSpPr/>
          <p:nvPr/>
        </p:nvSpPr>
        <p:spPr>
          <a:xfrm>
            <a:off x="1027004" y="6109204"/>
            <a:ext cx="1558111" cy="14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2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excel_manager.py salva no Excel</a:t>
            </a:r>
            <a:endParaRPr sz="1600" b="0" i="0" u="none" strike="noStrike" cap="none"/>
          </a:p>
        </p:txBody>
      </p:sp>
      <p:sp>
        <p:nvSpPr>
          <p:cNvPr id="317" name="Google Shape;317;p11"/>
          <p:cNvSpPr/>
          <p:nvPr/>
        </p:nvSpPr>
        <p:spPr>
          <a:xfrm>
            <a:off x="6186413" y="3359770"/>
            <a:ext cx="5648520" cy="3174908"/>
          </a:xfrm>
          <a:custGeom>
            <a:avLst/>
            <a:gdLst/>
            <a:ahLst/>
            <a:cxnLst/>
            <a:rect l="l" t="t" r="r" b="b"/>
            <a:pathLst>
              <a:path w="5648520" h="3174908" extrusionOk="0">
                <a:moveTo>
                  <a:pt x="105629" y="0"/>
                </a:moveTo>
                <a:lnTo>
                  <a:pt x="5542891" y="0"/>
                </a:lnTo>
                <a:cubicBezTo>
                  <a:pt x="5601228" y="0"/>
                  <a:pt x="5648520" y="47292"/>
                  <a:pt x="5648520" y="105629"/>
                </a:cubicBezTo>
                <a:lnTo>
                  <a:pt x="5648520" y="3069279"/>
                </a:lnTo>
                <a:cubicBezTo>
                  <a:pt x="5648520" y="3127617"/>
                  <a:pt x="5601228" y="3174908"/>
                  <a:pt x="5542891" y="3174908"/>
                </a:cubicBezTo>
                <a:lnTo>
                  <a:pt x="105629" y="3174908"/>
                </a:lnTo>
                <a:cubicBezTo>
                  <a:pt x="47292" y="3174908"/>
                  <a:pt x="0" y="3127617"/>
                  <a:pt x="0" y="3069279"/>
                </a:cubicBezTo>
                <a:lnTo>
                  <a:pt x="0" y="105629"/>
                </a:lnTo>
                <a:cubicBezTo>
                  <a:pt x="0" y="47331"/>
                  <a:pt x="47331" y="0"/>
                  <a:pt x="105629" y="0"/>
                </a:cubicBezTo>
                <a:close/>
              </a:path>
            </a:pathLst>
          </a:custGeom>
          <a:gradFill>
            <a:gsLst>
              <a:gs pos="0">
                <a:srgbClr val="A50034">
                  <a:alpha val="20000"/>
                </a:srgbClr>
              </a:gs>
              <a:gs pos="100000">
                <a:srgbClr val="2D2D2D"/>
              </a:gs>
            </a:gsLst>
            <a:lin ang="2700000" scaled="0"/>
          </a:gradFill>
          <a:ln w="9525" cap="flat" cmpd="sng">
            <a:solidFill>
              <a:srgbClr val="A50034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6387412" y="3582775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 extrusionOk="0">
                <a:moveTo>
                  <a:pt x="79226" y="0"/>
                </a:moveTo>
                <a:cubicBezTo>
                  <a:pt x="122952" y="0"/>
                  <a:pt x="158452" y="35500"/>
                  <a:pt x="158452" y="79226"/>
                </a:cubicBezTo>
                <a:cubicBezTo>
                  <a:pt x="158452" y="122952"/>
                  <a:pt x="122952" y="158452"/>
                  <a:pt x="79226" y="158452"/>
                </a:cubicBezTo>
                <a:cubicBezTo>
                  <a:pt x="35500" y="158452"/>
                  <a:pt x="0" y="122952"/>
                  <a:pt x="0" y="79226"/>
                </a:cubicBezTo>
                <a:cubicBezTo>
                  <a:pt x="0" y="35500"/>
                  <a:pt x="35500" y="0"/>
                  <a:pt x="79226" y="0"/>
                </a:cubicBezTo>
                <a:close/>
                <a:moveTo>
                  <a:pt x="71799" y="37137"/>
                </a:moveTo>
                <a:lnTo>
                  <a:pt x="71799" y="79226"/>
                </a:lnTo>
                <a:cubicBezTo>
                  <a:pt x="71799" y="81702"/>
                  <a:pt x="73036" y="84023"/>
                  <a:pt x="75110" y="85416"/>
                </a:cubicBezTo>
                <a:lnTo>
                  <a:pt x="104820" y="105222"/>
                </a:lnTo>
                <a:cubicBezTo>
                  <a:pt x="108224" y="107512"/>
                  <a:pt x="112835" y="106584"/>
                  <a:pt x="115125" y="103149"/>
                </a:cubicBezTo>
                <a:cubicBezTo>
                  <a:pt x="117415" y="99713"/>
                  <a:pt x="116487" y="95133"/>
                  <a:pt x="113052" y="92843"/>
                </a:cubicBezTo>
                <a:lnTo>
                  <a:pt x="86653" y="75265"/>
                </a:lnTo>
                <a:lnTo>
                  <a:pt x="86653" y="37137"/>
                </a:lnTo>
                <a:cubicBezTo>
                  <a:pt x="86653" y="33021"/>
                  <a:pt x="83342" y="29710"/>
                  <a:pt x="79226" y="29710"/>
                </a:cubicBezTo>
                <a:cubicBezTo>
                  <a:pt x="75110" y="29710"/>
                  <a:pt x="71799" y="33021"/>
                  <a:pt x="71799" y="37137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6567872" y="3538761"/>
            <a:ext cx="5167295" cy="24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8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Execução Automática</a:t>
            </a:r>
            <a:endParaRPr sz="1600" b="0" i="0" u="none" strike="noStrike" cap="none"/>
          </a:p>
        </p:txBody>
      </p:sp>
      <p:sp>
        <p:nvSpPr>
          <p:cNvPr id="320" name="Google Shape;320;p11"/>
          <p:cNvSpPr/>
          <p:nvPr/>
        </p:nvSpPr>
        <p:spPr>
          <a:xfrm>
            <a:off x="6383011" y="3961300"/>
            <a:ext cx="123240" cy="123240"/>
          </a:xfrm>
          <a:custGeom>
            <a:avLst/>
            <a:gdLst/>
            <a:ahLst/>
            <a:cxnLst/>
            <a:rect l="l" t="t" r="r" b="b"/>
            <a:pathLst>
              <a:path w="123240" h="123240" extrusionOk="0">
                <a:moveTo>
                  <a:pt x="61620" y="123240"/>
                </a:moveTo>
                <a:cubicBezTo>
                  <a:pt x="95629" y="123240"/>
                  <a:pt x="123240" y="95629"/>
                  <a:pt x="123240" y="61620"/>
                </a:cubicBezTo>
                <a:cubicBezTo>
                  <a:pt x="123240" y="27611"/>
                  <a:pt x="95629" y="0"/>
                  <a:pt x="61620" y="0"/>
                </a:cubicBezTo>
                <a:cubicBezTo>
                  <a:pt x="27611" y="0"/>
                  <a:pt x="0" y="27611"/>
                  <a:pt x="0" y="61620"/>
                </a:cubicBezTo>
                <a:cubicBezTo>
                  <a:pt x="0" y="95629"/>
                  <a:pt x="27611" y="123240"/>
                  <a:pt x="61620" y="123240"/>
                </a:cubicBezTo>
                <a:close/>
                <a:moveTo>
                  <a:pt x="81936" y="51198"/>
                </a:moveTo>
                <a:lnTo>
                  <a:pt x="62679" y="82008"/>
                </a:lnTo>
                <a:cubicBezTo>
                  <a:pt x="61668" y="83621"/>
                  <a:pt x="59935" y="84632"/>
                  <a:pt x="58034" y="84728"/>
                </a:cubicBezTo>
                <a:cubicBezTo>
                  <a:pt x="56132" y="84824"/>
                  <a:pt x="54303" y="83958"/>
                  <a:pt x="53172" y="82417"/>
                </a:cubicBezTo>
                <a:lnTo>
                  <a:pt x="41618" y="67012"/>
                </a:lnTo>
                <a:cubicBezTo>
                  <a:pt x="39692" y="64461"/>
                  <a:pt x="40222" y="60850"/>
                  <a:pt x="42773" y="58924"/>
                </a:cubicBezTo>
                <a:cubicBezTo>
                  <a:pt x="45325" y="56999"/>
                  <a:pt x="48935" y="57528"/>
                  <a:pt x="50861" y="60080"/>
                </a:cubicBezTo>
                <a:lnTo>
                  <a:pt x="57360" y="68745"/>
                </a:lnTo>
                <a:lnTo>
                  <a:pt x="72139" y="45084"/>
                </a:lnTo>
                <a:cubicBezTo>
                  <a:pt x="73824" y="42388"/>
                  <a:pt x="77386" y="41546"/>
                  <a:pt x="80106" y="43255"/>
                </a:cubicBezTo>
                <a:cubicBezTo>
                  <a:pt x="82826" y="44964"/>
                  <a:pt x="83645" y="48502"/>
                  <a:pt x="81936" y="51222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6589879" y="3926088"/>
            <a:ext cx="2271145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Execução programada via Task Scheduler</a:t>
            </a:r>
            <a:endParaRPr sz="1600" b="0" i="0" u="none" strike="noStrike" cap="none"/>
          </a:p>
        </p:txBody>
      </p:sp>
      <p:sp>
        <p:nvSpPr>
          <p:cNvPr id="322" name="Google Shape;322;p11"/>
          <p:cNvSpPr/>
          <p:nvPr/>
        </p:nvSpPr>
        <p:spPr>
          <a:xfrm>
            <a:off x="6383011" y="4242992"/>
            <a:ext cx="123240" cy="123240"/>
          </a:xfrm>
          <a:custGeom>
            <a:avLst/>
            <a:gdLst/>
            <a:ahLst/>
            <a:cxnLst/>
            <a:rect l="l" t="t" r="r" b="b"/>
            <a:pathLst>
              <a:path w="123240" h="123240" extrusionOk="0">
                <a:moveTo>
                  <a:pt x="61620" y="123240"/>
                </a:moveTo>
                <a:cubicBezTo>
                  <a:pt x="95629" y="123240"/>
                  <a:pt x="123240" y="95629"/>
                  <a:pt x="123240" y="61620"/>
                </a:cubicBezTo>
                <a:cubicBezTo>
                  <a:pt x="123240" y="27611"/>
                  <a:pt x="95629" y="0"/>
                  <a:pt x="61620" y="0"/>
                </a:cubicBezTo>
                <a:cubicBezTo>
                  <a:pt x="27611" y="0"/>
                  <a:pt x="0" y="27611"/>
                  <a:pt x="0" y="61620"/>
                </a:cubicBezTo>
                <a:cubicBezTo>
                  <a:pt x="0" y="95629"/>
                  <a:pt x="27611" y="123240"/>
                  <a:pt x="61620" y="123240"/>
                </a:cubicBezTo>
                <a:close/>
                <a:moveTo>
                  <a:pt x="81936" y="51198"/>
                </a:moveTo>
                <a:lnTo>
                  <a:pt x="62679" y="82008"/>
                </a:lnTo>
                <a:cubicBezTo>
                  <a:pt x="61668" y="83621"/>
                  <a:pt x="59935" y="84632"/>
                  <a:pt x="58034" y="84728"/>
                </a:cubicBezTo>
                <a:cubicBezTo>
                  <a:pt x="56132" y="84824"/>
                  <a:pt x="54303" y="83958"/>
                  <a:pt x="53172" y="82417"/>
                </a:cubicBezTo>
                <a:lnTo>
                  <a:pt x="41618" y="67012"/>
                </a:lnTo>
                <a:cubicBezTo>
                  <a:pt x="39692" y="64461"/>
                  <a:pt x="40222" y="60850"/>
                  <a:pt x="42773" y="58924"/>
                </a:cubicBezTo>
                <a:cubicBezTo>
                  <a:pt x="45325" y="56999"/>
                  <a:pt x="48935" y="57528"/>
                  <a:pt x="50861" y="60080"/>
                </a:cubicBezTo>
                <a:lnTo>
                  <a:pt x="57360" y="68745"/>
                </a:lnTo>
                <a:lnTo>
                  <a:pt x="72139" y="45084"/>
                </a:lnTo>
                <a:cubicBezTo>
                  <a:pt x="73824" y="42388"/>
                  <a:pt x="77386" y="41546"/>
                  <a:pt x="80106" y="43255"/>
                </a:cubicBezTo>
                <a:cubicBezTo>
                  <a:pt x="82826" y="44964"/>
                  <a:pt x="83645" y="48502"/>
                  <a:pt x="81936" y="51222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6589879" y="4207781"/>
            <a:ext cx="2165510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Intervalos configuráveis (horário/diário)</a:t>
            </a:r>
            <a:endParaRPr sz="1600" b="0" i="0" u="none" strike="noStrike" cap="none"/>
          </a:p>
        </p:txBody>
      </p:sp>
      <p:sp>
        <p:nvSpPr>
          <p:cNvPr id="324" name="Google Shape;324;p11"/>
          <p:cNvSpPr/>
          <p:nvPr/>
        </p:nvSpPr>
        <p:spPr>
          <a:xfrm>
            <a:off x="6383011" y="4524684"/>
            <a:ext cx="123240" cy="123240"/>
          </a:xfrm>
          <a:custGeom>
            <a:avLst/>
            <a:gdLst/>
            <a:ahLst/>
            <a:cxnLst/>
            <a:rect l="l" t="t" r="r" b="b"/>
            <a:pathLst>
              <a:path w="123240" h="123240" extrusionOk="0">
                <a:moveTo>
                  <a:pt x="61620" y="123240"/>
                </a:moveTo>
                <a:cubicBezTo>
                  <a:pt x="95629" y="123240"/>
                  <a:pt x="123240" y="95629"/>
                  <a:pt x="123240" y="61620"/>
                </a:cubicBezTo>
                <a:cubicBezTo>
                  <a:pt x="123240" y="27611"/>
                  <a:pt x="95629" y="0"/>
                  <a:pt x="61620" y="0"/>
                </a:cubicBezTo>
                <a:cubicBezTo>
                  <a:pt x="27611" y="0"/>
                  <a:pt x="0" y="27611"/>
                  <a:pt x="0" y="61620"/>
                </a:cubicBezTo>
                <a:cubicBezTo>
                  <a:pt x="0" y="95629"/>
                  <a:pt x="27611" y="123240"/>
                  <a:pt x="61620" y="123240"/>
                </a:cubicBezTo>
                <a:close/>
                <a:moveTo>
                  <a:pt x="81936" y="51198"/>
                </a:moveTo>
                <a:lnTo>
                  <a:pt x="62679" y="82008"/>
                </a:lnTo>
                <a:cubicBezTo>
                  <a:pt x="61668" y="83621"/>
                  <a:pt x="59935" y="84632"/>
                  <a:pt x="58034" y="84728"/>
                </a:cubicBezTo>
                <a:cubicBezTo>
                  <a:pt x="56132" y="84824"/>
                  <a:pt x="54303" y="83958"/>
                  <a:pt x="53172" y="82417"/>
                </a:cubicBezTo>
                <a:lnTo>
                  <a:pt x="41618" y="67012"/>
                </a:lnTo>
                <a:cubicBezTo>
                  <a:pt x="39692" y="64461"/>
                  <a:pt x="40222" y="60850"/>
                  <a:pt x="42773" y="58924"/>
                </a:cubicBezTo>
                <a:cubicBezTo>
                  <a:pt x="45325" y="56999"/>
                  <a:pt x="48935" y="57528"/>
                  <a:pt x="50861" y="60080"/>
                </a:cubicBezTo>
                <a:lnTo>
                  <a:pt x="57360" y="68745"/>
                </a:lnTo>
                <a:lnTo>
                  <a:pt x="72139" y="45084"/>
                </a:lnTo>
                <a:cubicBezTo>
                  <a:pt x="73824" y="42388"/>
                  <a:pt x="77386" y="41546"/>
                  <a:pt x="80106" y="43255"/>
                </a:cubicBezTo>
                <a:cubicBezTo>
                  <a:pt x="82826" y="44964"/>
                  <a:pt x="83645" y="48502"/>
                  <a:pt x="81936" y="51222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6589879" y="4489473"/>
            <a:ext cx="1971847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intervenção manual necessária</a:t>
            </a:r>
            <a:endParaRPr sz="1600" b="0" i="0" u="none" strike="noStrike" cap="none"/>
          </a:p>
        </p:txBody>
      </p:sp>
      <p:sp>
        <p:nvSpPr>
          <p:cNvPr id="326" name="Google Shape;326;p11"/>
          <p:cNvSpPr/>
          <p:nvPr/>
        </p:nvSpPr>
        <p:spPr>
          <a:xfrm>
            <a:off x="6383011" y="4806377"/>
            <a:ext cx="123240" cy="123240"/>
          </a:xfrm>
          <a:custGeom>
            <a:avLst/>
            <a:gdLst/>
            <a:ahLst/>
            <a:cxnLst/>
            <a:rect l="l" t="t" r="r" b="b"/>
            <a:pathLst>
              <a:path w="123240" h="123240" extrusionOk="0">
                <a:moveTo>
                  <a:pt x="61620" y="123240"/>
                </a:moveTo>
                <a:cubicBezTo>
                  <a:pt x="95629" y="123240"/>
                  <a:pt x="123240" y="95629"/>
                  <a:pt x="123240" y="61620"/>
                </a:cubicBezTo>
                <a:cubicBezTo>
                  <a:pt x="123240" y="27611"/>
                  <a:pt x="95629" y="0"/>
                  <a:pt x="61620" y="0"/>
                </a:cubicBezTo>
                <a:cubicBezTo>
                  <a:pt x="27611" y="0"/>
                  <a:pt x="0" y="27611"/>
                  <a:pt x="0" y="61620"/>
                </a:cubicBezTo>
                <a:cubicBezTo>
                  <a:pt x="0" y="95629"/>
                  <a:pt x="27611" y="123240"/>
                  <a:pt x="61620" y="123240"/>
                </a:cubicBezTo>
                <a:close/>
                <a:moveTo>
                  <a:pt x="81936" y="51198"/>
                </a:moveTo>
                <a:lnTo>
                  <a:pt x="62679" y="82008"/>
                </a:lnTo>
                <a:cubicBezTo>
                  <a:pt x="61668" y="83621"/>
                  <a:pt x="59935" y="84632"/>
                  <a:pt x="58034" y="84728"/>
                </a:cubicBezTo>
                <a:cubicBezTo>
                  <a:pt x="56132" y="84824"/>
                  <a:pt x="54303" y="83958"/>
                  <a:pt x="53172" y="82417"/>
                </a:cubicBezTo>
                <a:lnTo>
                  <a:pt x="41618" y="67012"/>
                </a:lnTo>
                <a:cubicBezTo>
                  <a:pt x="39692" y="64461"/>
                  <a:pt x="40222" y="60850"/>
                  <a:pt x="42773" y="58924"/>
                </a:cubicBezTo>
                <a:cubicBezTo>
                  <a:pt x="45325" y="56999"/>
                  <a:pt x="48935" y="57528"/>
                  <a:pt x="50861" y="60080"/>
                </a:cubicBezTo>
                <a:lnTo>
                  <a:pt x="57360" y="68745"/>
                </a:lnTo>
                <a:lnTo>
                  <a:pt x="72139" y="45084"/>
                </a:lnTo>
                <a:cubicBezTo>
                  <a:pt x="73824" y="42388"/>
                  <a:pt x="77386" y="41546"/>
                  <a:pt x="80106" y="43255"/>
                </a:cubicBezTo>
                <a:cubicBezTo>
                  <a:pt x="82826" y="44964"/>
                  <a:pt x="83645" y="48502"/>
                  <a:pt x="81936" y="51222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6589879" y="4771165"/>
            <a:ext cx="1778183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Logs de execução para auditoria</a:t>
            </a:r>
            <a:endParaRPr sz="1600" b="0" i="0" u="none" strike="noStrike" cap="none"/>
          </a:p>
        </p:txBody>
      </p:sp>
      <p:sp>
        <p:nvSpPr>
          <p:cNvPr id="328" name="Google Shape;328;p11"/>
          <p:cNvSpPr/>
          <p:nvPr/>
        </p:nvSpPr>
        <p:spPr>
          <a:xfrm>
            <a:off x="6365405" y="5088069"/>
            <a:ext cx="5290536" cy="352116"/>
          </a:xfrm>
          <a:custGeom>
            <a:avLst/>
            <a:gdLst/>
            <a:ahLst/>
            <a:cxnLst/>
            <a:rect l="l" t="t" r="r" b="b"/>
            <a:pathLst>
              <a:path w="5290536" h="352116" extrusionOk="0">
                <a:moveTo>
                  <a:pt x="70423" y="0"/>
                </a:moveTo>
                <a:lnTo>
                  <a:pt x="5220113" y="0"/>
                </a:lnTo>
                <a:cubicBezTo>
                  <a:pt x="5259006" y="0"/>
                  <a:pt x="5290536" y="31529"/>
                  <a:pt x="5290536" y="70423"/>
                </a:cubicBezTo>
                <a:lnTo>
                  <a:pt x="5290536" y="281692"/>
                </a:lnTo>
                <a:cubicBezTo>
                  <a:pt x="5290536" y="320586"/>
                  <a:pt x="5259006" y="352116"/>
                  <a:pt x="5220113" y="352116"/>
                </a:cubicBezTo>
                <a:lnTo>
                  <a:pt x="70423" y="352116"/>
                </a:lnTo>
                <a:cubicBezTo>
                  <a:pt x="31529" y="352116"/>
                  <a:pt x="0" y="320586"/>
                  <a:pt x="0" y="281692"/>
                </a:cubicBezTo>
                <a:lnTo>
                  <a:pt x="0" y="70423"/>
                </a:lnTo>
                <a:cubicBezTo>
                  <a:pt x="0" y="31556"/>
                  <a:pt x="31556" y="0"/>
                  <a:pt x="70423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6471040" y="5193704"/>
            <a:ext cx="5132084" cy="14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2" b="0" i="0" u="none" strike="noStrike" cap="none">
                <a:solidFill>
                  <a:srgbClr val="A50034"/>
                </a:solidFill>
                <a:latin typeface="Arial"/>
                <a:ea typeface="Arial"/>
                <a:cs typeface="Arial"/>
                <a:sym typeface="Arial"/>
              </a:rPr>
              <a:t>run.bat → Task Scheduler → Python Script</a:t>
            </a:r>
            <a:endParaRPr sz="1600" b="0" i="0" u="none" strike="noStrike" cap="none"/>
          </a:p>
        </p:txBody>
      </p:sp>
      <p:sp>
        <p:nvSpPr>
          <p:cNvPr id="330" name="Google Shape;330;p11"/>
          <p:cNvSpPr/>
          <p:nvPr/>
        </p:nvSpPr>
        <p:spPr>
          <a:xfrm>
            <a:off x="354316" y="6704869"/>
            <a:ext cx="154051" cy="123240"/>
          </a:xfrm>
          <a:custGeom>
            <a:avLst/>
            <a:gdLst/>
            <a:ahLst/>
            <a:cxnLst/>
            <a:rect l="l" t="t" r="r" b="b"/>
            <a:pathLst>
              <a:path w="154051" h="123240" extrusionOk="0">
                <a:moveTo>
                  <a:pt x="84728" y="0"/>
                </a:moveTo>
                <a:cubicBezTo>
                  <a:pt x="84728" y="-4260"/>
                  <a:pt x="81286" y="-7703"/>
                  <a:pt x="77025" y="-7703"/>
                </a:cubicBezTo>
                <a:cubicBezTo>
                  <a:pt x="72765" y="-7703"/>
                  <a:pt x="69323" y="-4260"/>
                  <a:pt x="69323" y="0"/>
                </a:cubicBezTo>
                <a:lnTo>
                  <a:pt x="69323" y="15405"/>
                </a:lnTo>
                <a:lnTo>
                  <a:pt x="46215" y="15405"/>
                </a:lnTo>
                <a:cubicBezTo>
                  <a:pt x="33458" y="15405"/>
                  <a:pt x="23108" y="25755"/>
                  <a:pt x="23108" y="38513"/>
                </a:cubicBezTo>
                <a:lnTo>
                  <a:pt x="23108" y="92430"/>
                </a:lnTo>
                <a:cubicBezTo>
                  <a:pt x="23108" y="105188"/>
                  <a:pt x="33458" y="115538"/>
                  <a:pt x="46215" y="115538"/>
                </a:cubicBezTo>
                <a:lnTo>
                  <a:pt x="107835" y="115538"/>
                </a:lnTo>
                <a:cubicBezTo>
                  <a:pt x="120593" y="115538"/>
                  <a:pt x="130943" y="105188"/>
                  <a:pt x="130943" y="92430"/>
                </a:cubicBezTo>
                <a:lnTo>
                  <a:pt x="130943" y="38513"/>
                </a:lnTo>
                <a:cubicBezTo>
                  <a:pt x="130943" y="25755"/>
                  <a:pt x="120593" y="15405"/>
                  <a:pt x="107835" y="15405"/>
                </a:cubicBezTo>
                <a:lnTo>
                  <a:pt x="84728" y="15405"/>
                </a:lnTo>
                <a:lnTo>
                  <a:pt x="84728" y="0"/>
                </a:lnTo>
                <a:close/>
                <a:moveTo>
                  <a:pt x="38513" y="88579"/>
                </a:moveTo>
                <a:cubicBezTo>
                  <a:pt x="38513" y="85378"/>
                  <a:pt x="41088" y="82802"/>
                  <a:pt x="44290" y="82802"/>
                </a:cubicBezTo>
                <a:lnTo>
                  <a:pt x="51992" y="82802"/>
                </a:lnTo>
                <a:cubicBezTo>
                  <a:pt x="55193" y="82802"/>
                  <a:pt x="57769" y="85378"/>
                  <a:pt x="57769" y="88579"/>
                </a:cubicBezTo>
                <a:cubicBezTo>
                  <a:pt x="57769" y="91780"/>
                  <a:pt x="55193" y="94356"/>
                  <a:pt x="51992" y="94356"/>
                </a:cubicBezTo>
                <a:lnTo>
                  <a:pt x="44290" y="94356"/>
                </a:lnTo>
                <a:cubicBezTo>
                  <a:pt x="41088" y="94356"/>
                  <a:pt x="38513" y="91780"/>
                  <a:pt x="38513" y="88579"/>
                </a:cubicBezTo>
                <a:close/>
                <a:moveTo>
                  <a:pt x="67397" y="88579"/>
                </a:moveTo>
                <a:cubicBezTo>
                  <a:pt x="67397" y="85378"/>
                  <a:pt x="69973" y="82802"/>
                  <a:pt x="73174" y="82802"/>
                </a:cubicBezTo>
                <a:lnTo>
                  <a:pt x="80877" y="82802"/>
                </a:lnTo>
                <a:cubicBezTo>
                  <a:pt x="84078" y="82802"/>
                  <a:pt x="86653" y="85378"/>
                  <a:pt x="86653" y="88579"/>
                </a:cubicBezTo>
                <a:cubicBezTo>
                  <a:pt x="86653" y="91780"/>
                  <a:pt x="84078" y="94356"/>
                  <a:pt x="80877" y="94356"/>
                </a:cubicBezTo>
                <a:lnTo>
                  <a:pt x="73174" y="94356"/>
                </a:lnTo>
                <a:cubicBezTo>
                  <a:pt x="69973" y="94356"/>
                  <a:pt x="67397" y="91780"/>
                  <a:pt x="67397" y="88579"/>
                </a:cubicBezTo>
                <a:close/>
                <a:moveTo>
                  <a:pt x="96282" y="88579"/>
                </a:moveTo>
                <a:cubicBezTo>
                  <a:pt x="96282" y="85378"/>
                  <a:pt x="98857" y="82802"/>
                  <a:pt x="102058" y="82802"/>
                </a:cubicBezTo>
                <a:lnTo>
                  <a:pt x="109761" y="82802"/>
                </a:lnTo>
                <a:cubicBezTo>
                  <a:pt x="112962" y="82802"/>
                  <a:pt x="115538" y="85378"/>
                  <a:pt x="115538" y="88579"/>
                </a:cubicBezTo>
                <a:cubicBezTo>
                  <a:pt x="115538" y="91780"/>
                  <a:pt x="112962" y="94356"/>
                  <a:pt x="109761" y="94356"/>
                </a:cubicBezTo>
                <a:lnTo>
                  <a:pt x="102058" y="94356"/>
                </a:lnTo>
                <a:cubicBezTo>
                  <a:pt x="98857" y="94356"/>
                  <a:pt x="96282" y="91780"/>
                  <a:pt x="96282" y="88579"/>
                </a:cubicBezTo>
                <a:close/>
                <a:moveTo>
                  <a:pt x="53918" y="42364"/>
                </a:moveTo>
                <a:cubicBezTo>
                  <a:pt x="60294" y="42364"/>
                  <a:pt x="65471" y="47541"/>
                  <a:pt x="65471" y="53918"/>
                </a:cubicBezTo>
                <a:cubicBezTo>
                  <a:pt x="65471" y="60294"/>
                  <a:pt x="60294" y="65471"/>
                  <a:pt x="53918" y="65471"/>
                </a:cubicBezTo>
                <a:cubicBezTo>
                  <a:pt x="47541" y="65471"/>
                  <a:pt x="42364" y="60294"/>
                  <a:pt x="42364" y="53918"/>
                </a:cubicBezTo>
                <a:cubicBezTo>
                  <a:pt x="42364" y="47541"/>
                  <a:pt x="47541" y="42364"/>
                  <a:pt x="53918" y="42364"/>
                </a:cubicBezTo>
                <a:close/>
                <a:moveTo>
                  <a:pt x="88579" y="53918"/>
                </a:moveTo>
                <a:cubicBezTo>
                  <a:pt x="88579" y="47541"/>
                  <a:pt x="93756" y="42364"/>
                  <a:pt x="100133" y="42364"/>
                </a:cubicBezTo>
                <a:cubicBezTo>
                  <a:pt x="106510" y="42364"/>
                  <a:pt x="111687" y="47541"/>
                  <a:pt x="111687" y="53918"/>
                </a:cubicBezTo>
                <a:cubicBezTo>
                  <a:pt x="111687" y="60294"/>
                  <a:pt x="106510" y="65471"/>
                  <a:pt x="100133" y="65471"/>
                </a:cubicBezTo>
                <a:cubicBezTo>
                  <a:pt x="93756" y="65471"/>
                  <a:pt x="88579" y="60294"/>
                  <a:pt x="88579" y="53918"/>
                </a:cubicBezTo>
                <a:close/>
                <a:moveTo>
                  <a:pt x="15405" y="53918"/>
                </a:moveTo>
                <a:cubicBezTo>
                  <a:pt x="15405" y="49657"/>
                  <a:pt x="11963" y="46215"/>
                  <a:pt x="7703" y="46215"/>
                </a:cubicBezTo>
                <a:cubicBezTo>
                  <a:pt x="3442" y="46215"/>
                  <a:pt x="0" y="49657"/>
                  <a:pt x="0" y="53918"/>
                </a:cubicBezTo>
                <a:lnTo>
                  <a:pt x="0" y="77025"/>
                </a:lnTo>
                <a:cubicBezTo>
                  <a:pt x="0" y="81286"/>
                  <a:pt x="3442" y="84728"/>
                  <a:pt x="7703" y="84728"/>
                </a:cubicBezTo>
                <a:cubicBezTo>
                  <a:pt x="11963" y="84728"/>
                  <a:pt x="15405" y="81286"/>
                  <a:pt x="15405" y="77025"/>
                </a:cubicBezTo>
                <a:lnTo>
                  <a:pt x="15405" y="53918"/>
                </a:lnTo>
                <a:close/>
                <a:moveTo>
                  <a:pt x="146348" y="46215"/>
                </a:moveTo>
                <a:cubicBezTo>
                  <a:pt x="142088" y="46215"/>
                  <a:pt x="138645" y="49657"/>
                  <a:pt x="138645" y="53918"/>
                </a:cubicBezTo>
                <a:lnTo>
                  <a:pt x="138645" y="77025"/>
                </a:lnTo>
                <a:cubicBezTo>
                  <a:pt x="138645" y="81286"/>
                  <a:pt x="142088" y="84728"/>
                  <a:pt x="146348" y="84728"/>
                </a:cubicBezTo>
                <a:cubicBezTo>
                  <a:pt x="150608" y="84728"/>
                  <a:pt x="154051" y="81286"/>
                  <a:pt x="154051" y="77025"/>
                </a:cubicBezTo>
                <a:lnTo>
                  <a:pt x="154051" y="53918"/>
                </a:lnTo>
                <a:cubicBezTo>
                  <a:pt x="154051" y="49657"/>
                  <a:pt x="150608" y="46215"/>
                  <a:pt x="146348" y="46215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576589" y="6678461"/>
            <a:ext cx="2332765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Projeto RPA – Monitoramento de Cotações</a:t>
            </a:r>
            <a:endParaRPr sz="1600" b="0" i="0" u="none" strike="noStrike" cap="none"/>
          </a:p>
        </p:txBody>
      </p:sp>
      <p:sp>
        <p:nvSpPr>
          <p:cNvPr id="332" name="Google Shape;332;p11"/>
          <p:cNvSpPr/>
          <p:nvPr/>
        </p:nvSpPr>
        <p:spPr>
          <a:xfrm>
            <a:off x="11391580" y="6678461"/>
            <a:ext cx="281692" cy="17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8/12</a:t>
            </a:r>
            <a:endParaRPr sz="1600" b="0" i="0" u="none" strike="noStrike" cap="none"/>
          </a:p>
        </p:txBody>
      </p:sp>
      <p:sp>
        <p:nvSpPr>
          <p:cNvPr id="333" name="Google Shape;333;p11"/>
          <p:cNvSpPr/>
          <p:nvPr/>
        </p:nvSpPr>
        <p:spPr>
          <a:xfrm>
            <a:off x="11717837" y="6704869"/>
            <a:ext cx="92430" cy="123240"/>
          </a:xfrm>
          <a:custGeom>
            <a:avLst/>
            <a:gdLst/>
            <a:ahLst/>
            <a:cxnLst/>
            <a:rect l="l" t="t" r="r" b="b"/>
            <a:pathLst>
              <a:path w="92430" h="123240" extrusionOk="0">
                <a:moveTo>
                  <a:pt x="0" y="15405"/>
                </a:moveTo>
                <a:cubicBezTo>
                  <a:pt x="0" y="6908"/>
                  <a:pt x="6908" y="0"/>
                  <a:pt x="15405" y="0"/>
                </a:cubicBezTo>
                <a:lnTo>
                  <a:pt x="51390" y="0"/>
                </a:lnTo>
                <a:cubicBezTo>
                  <a:pt x="55482" y="0"/>
                  <a:pt x="59406" y="1613"/>
                  <a:pt x="62294" y="4501"/>
                </a:cubicBezTo>
                <a:lnTo>
                  <a:pt x="87929" y="30160"/>
                </a:lnTo>
                <a:cubicBezTo>
                  <a:pt x="90818" y="33049"/>
                  <a:pt x="92430" y="36972"/>
                  <a:pt x="92430" y="41064"/>
                </a:cubicBezTo>
                <a:lnTo>
                  <a:pt x="92430" y="107835"/>
                </a:lnTo>
                <a:cubicBezTo>
                  <a:pt x="92430" y="116332"/>
                  <a:pt x="85522" y="123240"/>
                  <a:pt x="77025" y="123240"/>
                </a:cubicBezTo>
                <a:lnTo>
                  <a:pt x="15405" y="123240"/>
                </a:lnTo>
                <a:cubicBezTo>
                  <a:pt x="6908" y="123240"/>
                  <a:pt x="0" y="116332"/>
                  <a:pt x="0" y="107835"/>
                </a:cubicBezTo>
                <a:lnTo>
                  <a:pt x="0" y="15405"/>
                </a:lnTo>
                <a:close/>
                <a:moveTo>
                  <a:pt x="50066" y="14081"/>
                </a:moveTo>
                <a:lnTo>
                  <a:pt x="50066" y="36587"/>
                </a:lnTo>
                <a:cubicBezTo>
                  <a:pt x="50066" y="39788"/>
                  <a:pt x="52642" y="42364"/>
                  <a:pt x="55843" y="42364"/>
                </a:cubicBezTo>
                <a:lnTo>
                  <a:pt x="78349" y="42364"/>
                </a:lnTo>
                <a:lnTo>
                  <a:pt x="50066" y="14081"/>
                </a:lnTo>
                <a:close/>
                <a:moveTo>
                  <a:pt x="28884" y="61620"/>
                </a:moveTo>
                <a:cubicBezTo>
                  <a:pt x="25683" y="61620"/>
                  <a:pt x="23108" y="64196"/>
                  <a:pt x="23108" y="67397"/>
                </a:cubicBezTo>
                <a:cubicBezTo>
                  <a:pt x="23108" y="70598"/>
                  <a:pt x="25683" y="73174"/>
                  <a:pt x="28884" y="73174"/>
                </a:cubicBezTo>
                <a:lnTo>
                  <a:pt x="63546" y="73174"/>
                </a:lnTo>
                <a:cubicBezTo>
                  <a:pt x="66747" y="73174"/>
                  <a:pt x="69323" y="70598"/>
                  <a:pt x="69323" y="67397"/>
                </a:cubicBezTo>
                <a:cubicBezTo>
                  <a:pt x="69323" y="64196"/>
                  <a:pt x="66747" y="61620"/>
                  <a:pt x="63546" y="61620"/>
                </a:cubicBezTo>
                <a:lnTo>
                  <a:pt x="28884" y="61620"/>
                </a:lnTo>
                <a:close/>
                <a:moveTo>
                  <a:pt x="28884" y="84728"/>
                </a:moveTo>
                <a:cubicBezTo>
                  <a:pt x="25683" y="84728"/>
                  <a:pt x="23108" y="87303"/>
                  <a:pt x="23108" y="90505"/>
                </a:cubicBezTo>
                <a:cubicBezTo>
                  <a:pt x="23108" y="93706"/>
                  <a:pt x="25683" y="96282"/>
                  <a:pt x="28884" y="96282"/>
                </a:cubicBezTo>
                <a:lnTo>
                  <a:pt x="63546" y="96282"/>
                </a:lnTo>
                <a:cubicBezTo>
                  <a:pt x="66747" y="96282"/>
                  <a:pt x="69323" y="93706"/>
                  <a:pt x="69323" y="90505"/>
                </a:cubicBezTo>
                <a:cubicBezTo>
                  <a:pt x="69323" y="87303"/>
                  <a:pt x="66747" y="84728"/>
                  <a:pt x="63546" y="84728"/>
                </a:cubicBezTo>
                <a:lnTo>
                  <a:pt x="28884" y="84728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" descr="https://kimi-web-img.moonshot.cn/img/miro.medium.com/78f0682e112784ddcc246de8bdb68e38dcb6d2de.png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40" name="Google Shape;340;p1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A1A"/>
              </a:gs>
              <a:gs pos="50000">
                <a:srgbClr val="1A1A1A">
                  <a:alpha val="94901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341" name="Google Shape;341;p12"/>
          <p:cNvSpPr/>
          <p:nvPr/>
        </p:nvSpPr>
        <p:spPr>
          <a:xfrm>
            <a:off x="381000" y="17335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extrusionOk="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295275" y="1733550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03</a:t>
            </a:r>
            <a:endParaRPr sz="1600" b="0" i="0" u="none" strike="noStrike" cap="none"/>
          </a:p>
        </p:txBody>
      </p:sp>
      <p:sp>
        <p:nvSpPr>
          <p:cNvPr id="343" name="Google Shape;343;p12"/>
          <p:cNvSpPr/>
          <p:nvPr/>
        </p:nvSpPr>
        <p:spPr>
          <a:xfrm>
            <a:off x="1295400" y="2095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 extrusionOk="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344" name="Google Shape;344;p12"/>
          <p:cNvSpPr/>
          <p:nvPr/>
        </p:nvSpPr>
        <p:spPr>
          <a:xfrm>
            <a:off x="381000" y="2724150"/>
            <a:ext cx="76009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Implementação</a:t>
            </a:r>
            <a:endParaRPr sz="16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Técnica</a:t>
            </a:r>
            <a:endParaRPr sz="1600" b="0" i="0" u="none" strike="noStrike" cap="none"/>
          </a:p>
        </p:txBody>
      </p:sp>
      <p:sp>
        <p:nvSpPr>
          <p:cNvPr id="345" name="Google Shape;345;p12"/>
          <p:cNvSpPr/>
          <p:nvPr/>
        </p:nvSpPr>
        <p:spPr>
          <a:xfrm>
            <a:off x="381000" y="4381500"/>
            <a:ext cx="74295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Código, configuração e execução automática via Windows Task Scheduler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 extrusionOk="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352" name="Google Shape;352;p13"/>
          <p:cNvSpPr/>
          <p:nvPr/>
        </p:nvSpPr>
        <p:spPr>
          <a:xfrm>
            <a:off x="876300" y="381000"/>
            <a:ext cx="8001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50034"/>
                </a:solidFill>
                <a:latin typeface="Liter"/>
                <a:ea typeface="Liter"/>
                <a:cs typeface="Liter"/>
                <a:sym typeface="Liter"/>
              </a:rPr>
              <a:t>Seção 03</a:t>
            </a:r>
            <a:endParaRPr sz="1600" b="0" i="0" u="none" strike="noStrike" cap="none"/>
          </a:p>
        </p:txBody>
      </p:sp>
      <p:sp>
        <p:nvSpPr>
          <p:cNvPr id="353" name="Google Shape;353;p13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Automação com Agendador do Windows</a:t>
            </a:r>
            <a:endParaRPr sz="1600" b="0" i="0" u="none" strike="noStrike" cap="none"/>
          </a:p>
        </p:txBody>
      </p:sp>
      <p:sp>
        <p:nvSpPr>
          <p:cNvPr id="354" name="Google Shape;354;p13"/>
          <p:cNvSpPr/>
          <p:nvPr/>
        </p:nvSpPr>
        <p:spPr>
          <a:xfrm>
            <a:off x="384175" y="1222375"/>
            <a:ext cx="5616575" cy="4044950"/>
          </a:xfrm>
          <a:custGeom>
            <a:avLst/>
            <a:gdLst/>
            <a:ahLst/>
            <a:cxnLst/>
            <a:rect l="l" t="t" r="r" b="b"/>
            <a:pathLst>
              <a:path w="5616575" h="4044950" extrusionOk="0">
                <a:moveTo>
                  <a:pt x="114310" y="0"/>
                </a:moveTo>
                <a:lnTo>
                  <a:pt x="5502265" y="0"/>
                </a:lnTo>
                <a:cubicBezTo>
                  <a:pt x="5565397" y="0"/>
                  <a:pt x="5616575" y="51178"/>
                  <a:pt x="5616575" y="114310"/>
                </a:cubicBezTo>
                <a:lnTo>
                  <a:pt x="5616575" y="3930640"/>
                </a:lnTo>
                <a:cubicBezTo>
                  <a:pt x="5616575" y="3993772"/>
                  <a:pt x="5565397" y="4044950"/>
                  <a:pt x="5502265" y="4044950"/>
                </a:cubicBezTo>
                <a:lnTo>
                  <a:pt x="114310" y="4044950"/>
                </a:lnTo>
                <a:cubicBezTo>
                  <a:pt x="51178" y="4044950"/>
                  <a:pt x="0" y="3993772"/>
                  <a:pt x="0" y="3930640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2D2D2D"/>
          </a:soli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601663" y="146367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 extrusionOk="0">
                <a:moveTo>
                  <a:pt x="3148" y="39715"/>
                </a:moveTo>
                <a:cubicBezTo>
                  <a:pt x="-1038" y="35529"/>
                  <a:pt x="-1038" y="28731"/>
                  <a:pt x="3148" y="24545"/>
                </a:cubicBezTo>
                <a:cubicBezTo>
                  <a:pt x="7334" y="20360"/>
                  <a:pt x="14131" y="20360"/>
                  <a:pt x="18317" y="24545"/>
                </a:cubicBezTo>
                <a:lnTo>
                  <a:pt x="71895" y="78124"/>
                </a:lnTo>
                <a:cubicBezTo>
                  <a:pt x="76081" y="82309"/>
                  <a:pt x="76081" y="89107"/>
                  <a:pt x="71895" y="93293"/>
                </a:cubicBezTo>
                <a:lnTo>
                  <a:pt x="18317" y="146871"/>
                </a:lnTo>
                <a:cubicBezTo>
                  <a:pt x="14131" y="151057"/>
                  <a:pt x="7334" y="151057"/>
                  <a:pt x="3148" y="146871"/>
                </a:cubicBezTo>
                <a:cubicBezTo>
                  <a:pt x="-1038" y="142685"/>
                  <a:pt x="-1038" y="135888"/>
                  <a:pt x="3148" y="131702"/>
                </a:cubicBezTo>
                <a:lnTo>
                  <a:pt x="49124" y="85725"/>
                </a:lnTo>
                <a:lnTo>
                  <a:pt x="3148" y="39715"/>
                </a:lnTo>
                <a:close/>
                <a:moveTo>
                  <a:pt x="75009" y="128588"/>
                </a:move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75009" y="150019"/>
                </a:lnTo>
                <a:cubicBezTo>
                  <a:pt x="69082" y="150019"/>
                  <a:pt x="64294" y="145230"/>
                  <a:pt x="64294" y="139303"/>
                </a:cubicBezTo>
                <a:cubicBezTo>
                  <a:pt x="64294" y="133376"/>
                  <a:pt x="69082" y="128588"/>
                  <a:pt x="75009" y="128588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796925" y="1416053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Arquivo run.bat</a:t>
            </a:r>
            <a:endParaRPr sz="1600" b="0" i="0" u="none" strike="noStrike" cap="none"/>
          </a:p>
        </p:txBody>
      </p:sp>
      <p:sp>
        <p:nvSpPr>
          <p:cNvPr id="357" name="Google Shape;357;p13"/>
          <p:cNvSpPr/>
          <p:nvPr/>
        </p:nvSpPr>
        <p:spPr>
          <a:xfrm>
            <a:off x="577850" y="1835153"/>
            <a:ext cx="5229225" cy="1981200"/>
          </a:xfrm>
          <a:custGeom>
            <a:avLst/>
            <a:gdLst/>
            <a:ahLst/>
            <a:cxnLst/>
            <a:rect l="l" t="t" r="r" b="b"/>
            <a:pathLst>
              <a:path w="5229225" h="1981200" extrusionOk="0">
                <a:moveTo>
                  <a:pt x="76197" y="0"/>
                </a:moveTo>
                <a:lnTo>
                  <a:pt x="5153028" y="0"/>
                </a:lnTo>
                <a:cubicBezTo>
                  <a:pt x="5195110" y="0"/>
                  <a:pt x="5229225" y="34115"/>
                  <a:pt x="5229225" y="76197"/>
                </a:cubicBezTo>
                <a:lnTo>
                  <a:pt x="5229225" y="1905003"/>
                </a:lnTo>
                <a:cubicBezTo>
                  <a:pt x="5229225" y="1947085"/>
                  <a:pt x="5195110" y="1981200"/>
                  <a:pt x="5153028" y="1981200"/>
                </a:cubicBezTo>
                <a:lnTo>
                  <a:pt x="76197" y="1981200"/>
                </a:lnTo>
                <a:cubicBezTo>
                  <a:pt x="34115" y="1981200"/>
                  <a:pt x="0" y="1947085"/>
                  <a:pt x="0" y="19050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2D2D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577850" y="1835153"/>
            <a:ext cx="5291138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152400" rIns="152400" bIns="1524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A9955"/>
                </a:solidFill>
                <a:latin typeface="Arial"/>
                <a:ea typeface="Arial"/>
                <a:cs typeface="Arial"/>
                <a:sym typeface="Arial"/>
              </a:rPr>
              <a:t>@echo off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A9955"/>
                </a:solidFill>
                <a:latin typeface="Arial"/>
                <a:ea typeface="Arial"/>
                <a:cs typeface="Arial"/>
                <a:sym typeface="Arial"/>
              </a:rPr>
              <a:t>:: Ativa ambiente virtual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CDCAA"/>
                </a:solidFill>
                <a:latin typeface="Arial"/>
                <a:ea typeface="Arial"/>
                <a:cs typeface="Arial"/>
                <a:sym typeface="Arial"/>
              </a:rPr>
              <a:t>call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venv\Scripts\activate.bat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A9955"/>
                </a:solidFill>
                <a:latin typeface="Arial"/>
                <a:ea typeface="Arial"/>
                <a:cs typeface="Arial"/>
                <a:sym typeface="Arial"/>
              </a:rPr>
              <a:t>:: Executa script principal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CDCAA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src\main.py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A9955"/>
                </a:solidFill>
                <a:latin typeface="Arial"/>
                <a:ea typeface="Arial"/>
                <a:cs typeface="Arial"/>
                <a:sym typeface="Arial"/>
              </a:rPr>
              <a:t>:: Desativa ambiente</a:t>
            </a:r>
            <a:endParaRPr sz="1600" b="0" i="0" u="none" strike="noStrike" cap="none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CDCAA"/>
                </a:solidFill>
                <a:latin typeface="Arial"/>
                <a:ea typeface="Arial"/>
                <a:cs typeface="Arial"/>
                <a:sym typeface="Arial"/>
              </a:rPr>
              <a:t>call</a:t>
            </a: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deactivate</a:t>
            </a:r>
            <a:endParaRPr sz="1600" b="0" i="0" u="none" strike="noStrike" cap="none"/>
          </a:p>
        </p:txBody>
      </p:sp>
      <p:sp>
        <p:nvSpPr>
          <p:cNvPr id="359" name="Google Shape;359;p13"/>
          <p:cNvSpPr/>
          <p:nvPr/>
        </p:nvSpPr>
        <p:spPr>
          <a:xfrm>
            <a:off x="596900" y="396399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 extrusionOk="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820738" y="3963991"/>
            <a:ext cx="2409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Ativa ambiente Python automaticamente</a:t>
            </a:r>
            <a:endParaRPr sz="1600" b="0" i="0" u="none" strike="noStrike" cap="none"/>
          </a:p>
        </p:txBody>
      </p:sp>
      <p:sp>
        <p:nvSpPr>
          <p:cNvPr id="361" name="Google Shape;361;p13"/>
          <p:cNvSpPr/>
          <p:nvPr/>
        </p:nvSpPr>
        <p:spPr>
          <a:xfrm>
            <a:off x="596900" y="423069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 extrusionOk="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820738" y="4230691"/>
            <a:ext cx="2000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Executa main.py sem intervenção</a:t>
            </a:r>
            <a:endParaRPr sz="1600" b="0" i="0" u="none" strike="noStrike" cap="none"/>
          </a:p>
        </p:txBody>
      </p:sp>
      <p:sp>
        <p:nvSpPr>
          <p:cNvPr id="363" name="Google Shape;363;p13"/>
          <p:cNvSpPr/>
          <p:nvPr/>
        </p:nvSpPr>
        <p:spPr>
          <a:xfrm>
            <a:off x="596900" y="449739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 extrusionOk="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820738" y="4497391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Limpa ambiente após execução</a:t>
            </a:r>
            <a:endParaRPr sz="1600" b="0" i="0" u="none" strike="noStrike" cap="none"/>
          </a:p>
        </p:txBody>
      </p:sp>
      <p:sp>
        <p:nvSpPr>
          <p:cNvPr id="365" name="Google Shape;365;p13"/>
          <p:cNvSpPr/>
          <p:nvPr/>
        </p:nvSpPr>
        <p:spPr>
          <a:xfrm>
            <a:off x="400050" y="5422902"/>
            <a:ext cx="5600700" cy="952500"/>
          </a:xfrm>
          <a:custGeom>
            <a:avLst/>
            <a:gdLst/>
            <a:ahLst/>
            <a:cxnLst/>
            <a:rect l="l" t="t" r="r" b="b"/>
            <a:pathLst>
              <a:path w="5600700" h="952500" extrusionOk="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A5003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400050" y="5422902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 extrusionOk="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576263" y="557530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 extrusionOk="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869057" y="5575302"/>
            <a:ext cx="5057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Atenção</a:t>
            </a:r>
            <a:endParaRPr sz="1600" b="0" i="0" u="none" strike="noStrike" cap="none"/>
          </a:p>
        </p:txBody>
      </p:sp>
      <p:sp>
        <p:nvSpPr>
          <p:cNvPr id="369" name="Google Shape;369;p13"/>
          <p:cNvSpPr/>
          <p:nvPr/>
        </p:nvSpPr>
        <p:spPr>
          <a:xfrm>
            <a:off x="869057" y="5842002"/>
            <a:ext cx="50482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arquivo .bat deve estar na raiz do projeto e os caminhos devem ser absolutos ou relativos corretos.</a:t>
            </a:r>
            <a:endParaRPr sz="1600" b="0" i="0" u="none" strike="noStrike" cap="none"/>
          </a:p>
        </p:txBody>
      </p:sp>
      <p:sp>
        <p:nvSpPr>
          <p:cNvPr id="370" name="Google Shape;370;p13"/>
          <p:cNvSpPr/>
          <p:nvPr/>
        </p:nvSpPr>
        <p:spPr>
          <a:xfrm>
            <a:off x="6194425" y="1222375"/>
            <a:ext cx="5616575" cy="5149850"/>
          </a:xfrm>
          <a:custGeom>
            <a:avLst/>
            <a:gdLst/>
            <a:ahLst/>
            <a:cxnLst/>
            <a:rect l="l" t="t" r="r" b="b"/>
            <a:pathLst>
              <a:path w="5616575" h="5149850" extrusionOk="0">
                <a:moveTo>
                  <a:pt x="114275" y="0"/>
                </a:moveTo>
                <a:lnTo>
                  <a:pt x="5502300" y="0"/>
                </a:lnTo>
                <a:cubicBezTo>
                  <a:pt x="5565412" y="0"/>
                  <a:pt x="5616575" y="51163"/>
                  <a:pt x="5616575" y="114275"/>
                </a:cubicBezTo>
                <a:lnTo>
                  <a:pt x="5616575" y="5035575"/>
                </a:lnTo>
                <a:cubicBezTo>
                  <a:pt x="5616575" y="5098687"/>
                  <a:pt x="5565412" y="5149850"/>
                  <a:pt x="5502300" y="5149850"/>
                </a:cubicBezTo>
                <a:lnTo>
                  <a:pt x="114275" y="5149850"/>
                </a:lnTo>
                <a:cubicBezTo>
                  <a:pt x="51163" y="5149850"/>
                  <a:pt x="0" y="5098687"/>
                  <a:pt x="0" y="5035575"/>
                </a:cubicBezTo>
                <a:lnTo>
                  <a:pt x="0" y="114275"/>
                </a:lnTo>
                <a:cubicBezTo>
                  <a:pt x="0" y="51205"/>
                  <a:pt x="51205" y="0"/>
                  <a:pt x="114275" y="0"/>
                </a:cubicBezTo>
                <a:close/>
              </a:path>
            </a:pathLst>
          </a:custGeom>
          <a:solidFill>
            <a:srgbClr val="2D2D2D"/>
          </a:soli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6422628" y="146367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 extrusionOk="0">
                <a:moveTo>
                  <a:pt x="0" y="31377"/>
                </a:moveTo>
                <a:lnTo>
                  <a:pt x="61481" y="22905"/>
                </a:lnTo>
                <a:lnTo>
                  <a:pt x="61481" y="82309"/>
                </a:lnTo>
                <a:lnTo>
                  <a:pt x="0" y="82309"/>
                </a:lnTo>
                <a:lnTo>
                  <a:pt x="0" y="31377"/>
                </a:lnTo>
                <a:close/>
                <a:moveTo>
                  <a:pt x="0" y="140073"/>
                </a:moveTo>
                <a:lnTo>
                  <a:pt x="61481" y="148545"/>
                </a:lnTo>
                <a:lnTo>
                  <a:pt x="61481" y="89877"/>
                </a:lnTo>
                <a:lnTo>
                  <a:pt x="0" y="89877"/>
                </a:lnTo>
                <a:lnTo>
                  <a:pt x="0" y="140073"/>
                </a:lnTo>
                <a:close/>
                <a:moveTo>
                  <a:pt x="68245" y="149449"/>
                </a:moveTo>
                <a:lnTo>
                  <a:pt x="150019" y="160734"/>
                </a:lnTo>
                <a:lnTo>
                  <a:pt x="150019" y="89877"/>
                </a:lnTo>
                <a:lnTo>
                  <a:pt x="68245" y="89877"/>
                </a:lnTo>
                <a:lnTo>
                  <a:pt x="68245" y="149449"/>
                </a:lnTo>
                <a:close/>
                <a:moveTo>
                  <a:pt x="68245" y="22001"/>
                </a:moveTo>
                <a:lnTo>
                  <a:pt x="68245" y="82309"/>
                </a:lnTo>
                <a:lnTo>
                  <a:pt x="150019" y="82309"/>
                </a:lnTo>
                <a:lnTo>
                  <a:pt x="150019" y="10716"/>
                </a:lnTo>
                <a:lnTo>
                  <a:pt x="68245" y="22001"/>
                </a:lnTo>
                <a:close/>
              </a:path>
            </a:pathLst>
          </a:custGeom>
          <a:solidFill>
            <a:srgbClr val="2B7FFF"/>
          </a:solidFill>
          <a:ln>
            <a:noFill/>
          </a:ln>
        </p:spPr>
      </p:sp>
      <p:sp>
        <p:nvSpPr>
          <p:cNvPr id="372" name="Google Shape;372;p13"/>
          <p:cNvSpPr/>
          <p:nvPr/>
        </p:nvSpPr>
        <p:spPr>
          <a:xfrm>
            <a:off x="6607175" y="1416053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Windows Task Scheduler</a:t>
            </a:r>
            <a:endParaRPr sz="1600" b="0" i="0" u="none" strike="noStrike" cap="none"/>
          </a:p>
        </p:txBody>
      </p:sp>
      <p:sp>
        <p:nvSpPr>
          <p:cNvPr id="373" name="Google Shape;373;p13"/>
          <p:cNvSpPr/>
          <p:nvPr/>
        </p:nvSpPr>
        <p:spPr>
          <a:xfrm>
            <a:off x="6388100" y="1835153"/>
            <a:ext cx="5229225" cy="838200"/>
          </a:xfrm>
          <a:custGeom>
            <a:avLst/>
            <a:gdLst/>
            <a:ahLst/>
            <a:cxnLst/>
            <a:rect l="l" t="t" r="r" b="b"/>
            <a:pathLst>
              <a:path w="5229225" h="838200" extrusionOk="0">
                <a:moveTo>
                  <a:pt x="76201" y="0"/>
                </a:moveTo>
                <a:lnTo>
                  <a:pt x="5153024" y="0"/>
                </a:lnTo>
                <a:cubicBezTo>
                  <a:pt x="5195109" y="0"/>
                  <a:pt x="5229225" y="34116"/>
                  <a:pt x="5229225" y="76201"/>
                </a:cubicBezTo>
                <a:lnTo>
                  <a:pt x="5229225" y="761999"/>
                </a:lnTo>
                <a:cubicBezTo>
                  <a:pt x="5229225" y="804084"/>
                  <a:pt x="5195109" y="838200"/>
                  <a:pt x="51530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6540500" y="1987553"/>
            <a:ext cx="5000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highlight>
                  <a:srgbClr val="A50034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1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Criar Nova Tarefa</a:t>
            </a:r>
            <a:endParaRPr sz="1600" b="0" i="0" u="none" strike="noStrike" cap="none"/>
          </a:p>
        </p:txBody>
      </p:sp>
      <p:sp>
        <p:nvSpPr>
          <p:cNvPr id="375" name="Google Shape;375;p13"/>
          <p:cNvSpPr/>
          <p:nvPr/>
        </p:nvSpPr>
        <p:spPr>
          <a:xfrm>
            <a:off x="6540500" y="2330453"/>
            <a:ext cx="49911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Abra o Task Scheduler e crie uma nova tarefa básica ou avançada.</a:t>
            </a:r>
            <a:endParaRPr sz="1600" b="0" i="0" u="none" strike="noStrike" cap="none"/>
          </a:p>
        </p:txBody>
      </p:sp>
      <p:sp>
        <p:nvSpPr>
          <p:cNvPr id="376" name="Google Shape;376;p13"/>
          <p:cNvSpPr/>
          <p:nvPr/>
        </p:nvSpPr>
        <p:spPr>
          <a:xfrm>
            <a:off x="6388100" y="2825753"/>
            <a:ext cx="5229225" cy="838200"/>
          </a:xfrm>
          <a:custGeom>
            <a:avLst/>
            <a:gdLst/>
            <a:ahLst/>
            <a:cxnLst/>
            <a:rect l="l" t="t" r="r" b="b"/>
            <a:pathLst>
              <a:path w="5229225" h="838200" extrusionOk="0">
                <a:moveTo>
                  <a:pt x="76201" y="0"/>
                </a:moveTo>
                <a:lnTo>
                  <a:pt x="5153024" y="0"/>
                </a:lnTo>
                <a:cubicBezTo>
                  <a:pt x="5195109" y="0"/>
                  <a:pt x="5229225" y="34116"/>
                  <a:pt x="5229225" y="76201"/>
                </a:cubicBezTo>
                <a:lnTo>
                  <a:pt x="5229225" y="761999"/>
                </a:lnTo>
                <a:cubicBezTo>
                  <a:pt x="5229225" y="804084"/>
                  <a:pt x="5195109" y="838200"/>
                  <a:pt x="51530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6540500" y="2978153"/>
            <a:ext cx="5000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highlight>
                  <a:srgbClr val="A50034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2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Configurar Gatilho</a:t>
            </a:r>
            <a:endParaRPr sz="1600" b="0" i="0" u="none" strike="noStrike" cap="none"/>
          </a:p>
        </p:txBody>
      </p:sp>
      <p:sp>
        <p:nvSpPr>
          <p:cNvPr id="378" name="Google Shape;378;p13"/>
          <p:cNvSpPr/>
          <p:nvPr/>
        </p:nvSpPr>
        <p:spPr>
          <a:xfrm>
            <a:off x="6540500" y="3321053"/>
            <a:ext cx="49911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Defina a frequência: diária, semanal, ou intervalos personalizados.</a:t>
            </a:r>
            <a:endParaRPr sz="1600" b="0" i="0" u="none" strike="noStrike" cap="none"/>
          </a:p>
        </p:txBody>
      </p:sp>
      <p:sp>
        <p:nvSpPr>
          <p:cNvPr id="379" name="Google Shape;379;p13"/>
          <p:cNvSpPr/>
          <p:nvPr/>
        </p:nvSpPr>
        <p:spPr>
          <a:xfrm>
            <a:off x="6388100" y="3816353"/>
            <a:ext cx="5229225" cy="1371600"/>
          </a:xfrm>
          <a:custGeom>
            <a:avLst/>
            <a:gdLst/>
            <a:ahLst/>
            <a:cxnLst/>
            <a:rect l="l" t="t" r="r" b="b"/>
            <a:pathLst>
              <a:path w="5229225" h="1371600" extrusionOk="0">
                <a:moveTo>
                  <a:pt x="76206" y="0"/>
                </a:moveTo>
                <a:lnTo>
                  <a:pt x="5153019" y="0"/>
                </a:lnTo>
                <a:cubicBezTo>
                  <a:pt x="5195106" y="0"/>
                  <a:pt x="5229225" y="34119"/>
                  <a:pt x="5229225" y="76206"/>
                </a:cubicBezTo>
                <a:lnTo>
                  <a:pt x="5229225" y="1295394"/>
                </a:lnTo>
                <a:cubicBezTo>
                  <a:pt x="5229225" y="1337481"/>
                  <a:pt x="5195106" y="1371600"/>
                  <a:pt x="5153019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6540500" y="3968753"/>
            <a:ext cx="5000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highlight>
                  <a:srgbClr val="A50034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3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Configurar Ação</a:t>
            </a:r>
            <a:endParaRPr sz="1600" b="0" i="0" u="none" strike="noStrike" cap="none"/>
          </a:p>
        </p:txBody>
      </p:sp>
      <p:sp>
        <p:nvSpPr>
          <p:cNvPr id="381" name="Google Shape;381;p13"/>
          <p:cNvSpPr/>
          <p:nvPr/>
        </p:nvSpPr>
        <p:spPr>
          <a:xfrm>
            <a:off x="6540500" y="4311653"/>
            <a:ext cx="49911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Ação: Iniciar programa</a:t>
            </a:r>
            <a:endParaRPr sz="1600" b="0" i="0" u="none" strike="noStrike" cap="none"/>
          </a:p>
        </p:txBody>
      </p:sp>
      <p:sp>
        <p:nvSpPr>
          <p:cNvPr id="382" name="Google Shape;382;p13"/>
          <p:cNvSpPr/>
          <p:nvPr/>
        </p:nvSpPr>
        <p:spPr>
          <a:xfrm>
            <a:off x="6540500" y="4578353"/>
            <a:ext cx="4924425" cy="457200"/>
          </a:xfrm>
          <a:custGeom>
            <a:avLst/>
            <a:gdLst/>
            <a:ahLst/>
            <a:cxnLst/>
            <a:rect l="l" t="t" r="r" b="b"/>
            <a:pathLst>
              <a:path w="4924425" h="457200" extrusionOk="0">
                <a:moveTo>
                  <a:pt x="38098" y="0"/>
                </a:moveTo>
                <a:lnTo>
                  <a:pt x="4886327" y="0"/>
                </a:lnTo>
                <a:cubicBezTo>
                  <a:pt x="4907368" y="0"/>
                  <a:pt x="4924425" y="17057"/>
                  <a:pt x="4924425" y="38098"/>
                </a:cubicBezTo>
                <a:lnTo>
                  <a:pt x="4924425" y="419102"/>
                </a:lnTo>
                <a:cubicBezTo>
                  <a:pt x="4924425" y="440143"/>
                  <a:pt x="4907368" y="457200"/>
                  <a:pt x="488632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D2D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3"/>
          <p:cNvSpPr/>
          <p:nvPr/>
        </p:nvSpPr>
        <p:spPr>
          <a:xfrm>
            <a:off x="6540500" y="4578353"/>
            <a:ext cx="4981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76200" rIns="76200" bIns="762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50034"/>
                </a:solidFill>
                <a:latin typeface="Arial"/>
                <a:ea typeface="Arial"/>
                <a:cs typeface="Arial"/>
                <a:sym typeface="Arial"/>
              </a:rPr>
              <a:t>Programa: run.bat</a:t>
            </a:r>
            <a:endParaRPr sz="1600" b="0" i="0" u="none" strike="noStrike" cap="none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50034"/>
                </a:solidFill>
                <a:latin typeface="Arial"/>
                <a:ea typeface="Arial"/>
                <a:cs typeface="Arial"/>
                <a:sym typeface="Arial"/>
              </a:rPr>
              <a:t>Iniciar em: C:\projeto_rpa\</a:t>
            </a:r>
            <a:endParaRPr sz="1600" b="0" i="0" u="none" strike="noStrike" cap="none"/>
          </a:p>
        </p:txBody>
      </p:sp>
      <p:sp>
        <p:nvSpPr>
          <p:cNvPr id="384" name="Google Shape;384;p13"/>
          <p:cNvSpPr/>
          <p:nvPr/>
        </p:nvSpPr>
        <p:spPr>
          <a:xfrm>
            <a:off x="6388100" y="5340353"/>
            <a:ext cx="5229225" cy="838200"/>
          </a:xfrm>
          <a:custGeom>
            <a:avLst/>
            <a:gdLst/>
            <a:ahLst/>
            <a:cxnLst/>
            <a:rect l="l" t="t" r="r" b="b"/>
            <a:pathLst>
              <a:path w="5229225" h="838200" extrusionOk="0">
                <a:moveTo>
                  <a:pt x="76201" y="0"/>
                </a:moveTo>
                <a:lnTo>
                  <a:pt x="5153024" y="0"/>
                </a:lnTo>
                <a:cubicBezTo>
                  <a:pt x="5195109" y="0"/>
                  <a:pt x="5229225" y="34116"/>
                  <a:pt x="5229225" y="76201"/>
                </a:cubicBezTo>
                <a:lnTo>
                  <a:pt x="5229225" y="761999"/>
                </a:lnTo>
                <a:cubicBezTo>
                  <a:pt x="5229225" y="804084"/>
                  <a:pt x="5195109" y="838200"/>
                  <a:pt x="51530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6540500" y="5492753"/>
            <a:ext cx="5000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highlight>
                  <a:srgbClr val="A50034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4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Condições e Configurações</a:t>
            </a:r>
            <a:endParaRPr sz="1600" b="0" i="0" u="none" strike="noStrike" cap="none"/>
          </a:p>
        </p:txBody>
      </p:sp>
      <p:sp>
        <p:nvSpPr>
          <p:cNvPr id="386" name="Google Shape;386;p13"/>
          <p:cNvSpPr/>
          <p:nvPr/>
        </p:nvSpPr>
        <p:spPr>
          <a:xfrm>
            <a:off x="6540500" y="5835653"/>
            <a:ext cx="49911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Configure execução mesmo sem usuário logado e permissões adequadas.</a:t>
            </a:r>
            <a:endParaRPr sz="1600" b="0" i="0" u="none" strike="noStrike" cap="none"/>
          </a:p>
        </p:txBody>
      </p:sp>
      <p:sp>
        <p:nvSpPr>
          <p:cNvPr id="387" name="Google Shape;387;p13"/>
          <p:cNvSpPr/>
          <p:nvPr/>
        </p:nvSpPr>
        <p:spPr>
          <a:xfrm>
            <a:off x="383381" y="6518277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 extrusionOk="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623888" y="6489702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Projeto RPA – Monitoramento de Cotações</a:t>
            </a:r>
            <a:endParaRPr sz="1600" b="0" i="0" u="none" strike="noStrike" cap="none"/>
          </a:p>
        </p:txBody>
      </p:sp>
      <p:sp>
        <p:nvSpPr>
          <p:cNvPr id="389" name="Google Shape;389;p13"/>
          <p:cNvSpPr/>
          <p:nvPr/>
        </p:nvSpPr>
        <p:spPr>
          <a:xfrm>
            <a:off x="11272540" y="6489702"/>
            <a:ext cx="361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10/12</a:t>
            </a:r>
            <a:endParaRPr sz="1600" b="0" i="0" u="none" strike="noStrike" cap="none"/>
          </a:p>
        </p:txBody>
      </p:sp>
      <p:sp>
        <p:nvSpPr>
          <p:cNvPr id="390" name="Google Shape;390;p13"/>
          <p:cNvSpPr/>
          <p:nvPr/>
        </p:nvSpPr>
        <p:spPr>
          <a:xfrm>
            <a:off x="11680031" y="6518277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 extrusionOk="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" descr="https://kimi-web-img.moonshot.cn/img/media.istockphoto.com/530dbd447c596f689394f3675c9fae74931f2ee9.jpg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7" name="Google Shape;397;p1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A1A"/>
              </a:gs>
              <a:gs pos="50000">
                <a:srgbClr val="1A1A1A">
                  <a:alpha val="94901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398" name="Google Shape;398;p14"/>
          <p:cNvSpPr/>
          <p:nvPr/>
        </p:nvSpPr>
        <p:spPr>
          <a:xfrm>
            <a:off x="381000" y="191928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extrusionOk="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4"/>
          <p:cNvSpPr/>
          <p:nvPr/>
        </p:nvSpPr>
        <p:spPr>
          <a:xfrm>
            <a:off x="295275" y="1919288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04</a:t>
            </a:r>
            <a:endParaRPr sz="1600" b="0" i="0" u="none" strike="noStrike" cap="none"/>
          </a:p>
        </p:txBody>
      </p:sp>
      <p:sp>
        <p:nvSpPr>
          <p:cNvPr id="400" name="Google Shape;400;p14"/>
          <p:cNvSpPr/>
          <p:nvPr/>
        </p:nvSpPr>
        <p:spPr>
          <a:xfrm>
            <a:off x="1295400" y="228123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 extrusionOk="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401" name="Google Shape;401;p14"/>
          <p:cNvSpPr/>
          <p:nvPr/>
        </p:nvSpPr>
        <p:spPr>
          <a:xfrm>
            <a:off x="381000" y="2909888"/>
            <a:ext cx="6105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Benefícios e</a:t>
            </a:r>
            <a:endParaRPr sz="16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Melhorias</a:t>
            </a:r>
            <a:endParaRPr sz="1600" b="0" i="0" u="none" strike="noStrike" cap="none"/>
          </a:p>
        </p:txBody>
      </p:sp>
      <p:sp>
        <p:nvSpPr>
          <p:cNvPr id="402" name="Google Shape;402;p14"/>
          <p:cNvSpPr/>
          <p:nvPr/>
        </p:nvSpPr>
        <p:spPr>
          <a:xfrm>
            <a:off x="381000" y="4567238"/>
            <a:ext cx="59340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Valor agregado da automação e evolução futura do projeto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5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 extrusionOk="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</p:sp>
      <p:sp>
        <p:nvSpPr>
          <p:cNvPr id="409" name="Google Shape;409;p15"/>
          <p:cNvSpPr/>
          <p:nvPr/>
        </p:nvSpPr>
        <p:spPr>
          <a:xfrm>
            <a:off x="876300" y="381000"/>
            <a:ext cx="8001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50034"/>
                </a:solidFill>
                <a:latin typeface="Liter"/>
                <a:ea typeface="Liter"/>
                <a:cs typeface="Liter"/>
                <a:sym typeface="Liter"/>
              </a:rPr>
              <a:t>Seção 04</a:t>
            </a:r>
            <a:endParaRPr sz="1600" b="0" i="0" u="none" strike="noStrike" cap="none"/>
          </a:p>
        </p:txBody>
      </p:sp>
      <p:sp>
        <p:nvSpPr>
          <p:cNvPr id="410" name="Google Shape;410;p15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Benefícios e Possíveis Melhorias</a:t>
            </a:r>
            <a:endParaRPr sz="1600" b="0" i="0" u="none" strike="noStrike" cap="none"/>
          </a:p>
        </p:txBody>
      </p:sp>
      <p:sp>
        <p:nvSpPr>
          <p:cNvPr id="411" name="Google Shape;411;p15"/>
          <p:cNvSpPr/>
          <p:nvPr/>
        </p:nvSpPr>
        <p:spPr>
          <a:xfrm>
            <a:off x="384175" y="1222375"/>
            <a:ext cx="5616575" cy="3778250"/>
          </a:xfrm>
          <a:custGeom>
            <a:avLst/>
            <a:gdLst/>
            <a:ahLst/>
            <a:cxnLst/>
            <a:rect l="l" t="t" r="r" b="b"/>
            <a:pathLst>
              <a:path w="5616575" h="3778250" extrusionOk="0">
                <a:moveTo>
                  <a:pt x="114292" y="0"/>
                </a:moveTo>
                <a:lnTo>
                  <a:pt x="5502283" y="0"/>
                </a:lnTo>
                <a:cubicBezTo>
                  <a:pt x="5565405" y="0"/>
                  <a:pt x="5616575" y="51170"/>
                  <a:pt x="5616575" y="114292"/>
                </a:cubicBezTo>
                <a:lnTo>
                  <a:pt x="5616575" y="3663958"/>
                </a:lnTo>
                <a:cubicBezTo>
                  <a:pt x="5616575" y="3727080"/>
                  <a:pt x="5565405" y="3778250"/>
                  <a:pt x="5502283" y="3778250"/>
                </a:cubicBezTo>
                <a:lnTo>
                  <a:pt x="114292" y="3778250"/>
                </a:lnTo>
                <a:cubicBezTo>
                  <a:pt x="51170" y="3778250"/>
                  <a:pt x="0" y="3727080"/>
                  <a:pt x="0" y="366395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gradFill>
            <a:gsLst>
              <a:gs pos="0">
                <a:srgbClr val="A50034">
                  <a:alpha val="20000"/>
                </a:srgbClr>
              </a:gs>
              <a:gs pos="100000">
                <a:srgbClr val="2D2D2D"/>
              </a:gs>
            </a:gsLst>
            <a:lin ang="2700000" scaled="0"/>
          </a:gradFill>
          <a:ln w="9525" cap="flat" cmpd="sng">
            <a:solidFill>
              <a:srgbClr val="A50034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601663" y="14541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815975" y="1416053"/>
            <a:ext cx="5086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Benefícios da Automação</a:t>
            </a:r>
            <a:endParaRPr sz="1600" b="0" i="0" u="none" strike="noStrike" cap="none"/>
          </a:p>
        </p:txBody>
      </p:sp>
      <p:sp>
        <p:nvSpPr>
          <p:cNvPr id="414" name="Google Shape;414;p15"/>
          <p:cNvSpPr/>
          <p:nvPr/>
        </p:nvSpPr>
        <p:spPr>
          <a:xfrm>
            <a:off x="577850" y="1835153"/>
            <a:ext cx="5229225" cy="609600"/>
          </a:xfrm>
          <a:custGeom>
            <a:avLst/>
            <a:gdLst/>
            <a:ahLst/>
            <a:cxnLst/>
            <a:rect l="l" t="t" r="r" b="b"/>
            <a:pathLst>
              <a:path w="5229225" h="609600" extrusionOk="0">
                <a:moveTo>
                  <a:pt x="76200" y="0"/>
                </a:moveTo>
                <a:lnTo>
                  <a:pt x="5153025" y="0"/>
                </a:lnTo>
                <a:cubicBezTo>
                  <a:pt x="5195081" y="0"/>
                  <a:pt x="5229225" y="34144"/>
                  <a:pt x="5229225" y="76200"/>
                </a:cubicBezTo>
                <a:lnTo>
                  <a:pt x="5229225" y="533400"/>
                </a:lnTo>
                <a:cubicBezTo>
                  <a:pt x="5229225" y="575456"/>
                  <a:pt x="5195081" y="609600"/>
                  <a:pt x="51530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692150" y="19494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extrusionOk="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787400" y="206375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 extrusionOk="0">
                <a:moveTo>
                  <a:pt x="0" y="76200"/>
                </a:moveTo>
                <a:cubicBezTo>
                  <a:pt x="0" y="49887"/>
                  <a:pt x="21312" y="28575"/>
                  <a:pt x="47625" y="28575"/>
                </a:cubicBezTo>
                <a:cubicBezTo>
                  <a:pt x="62627" y="28575"/>
                  <a:pt x="76736" y="35629"/>
                  <a:pt x="85725" y="47625"/>
                </a:cubicBezTo>
                <a:lnTo>
                  <a:pt x="95250" y="60335"/>
                </a:lnTo>
                <a:lnTo>
                  <a:pt x="104775" y="47625"/>
                </a:lnTo>
                <a:cubicBezTo>
                  <a:pt x="113764" y="35629"/>
                  <a:pt x="127873" y="28575"/>
                  <a:pt x="142875" y="28575"/>
                </a:cubicBezTo>
                <a:cubicBezTo>
                  <a:pt x="169188" y="28575"/>
                  <a:pt x="190500" y="49887"/>
                  <a:pt x="190500" y="76200"/>
                </a:cubicBezTo>
                <a:cubicBezTo>
                  <a:pt x="190500" y="102513"/>
                  <a:pt x="169188" y="123825"/>
                  <a:pt x="142875" y="123825"/>
                </a:cubicBezTo>
                <a:cubicBezTo>
                  <a:pt x="127873" y="123825"/>
                  <a:pt x="113764" y="116771"/>
                  <a:pt x="104775" y="104775"/>
                </a:cubicBezTo>
                <a:lnTo>
                  <a:pt x="95250" y="92065"/>
                </a:lnTo>
                <a:lnTo>
                  <a:pt x="85725" y="104775"/>
                </a:lnTo>
                <a:cubicBezTo>
                  <a:pt x="76736" y="116771"/>
                  <a:pt x="62627" y="123825"/>
                  <a:pt x="47625" y="123825"/>
                </a:cubicBezTo>
                <a:cubicBezTo>
                  <a:pt x="21312" y="123825"/>
                  <a:pt x="0" y="102513"/>
                  <a:pt x="0" y="76200"/>
                </a:cubicBezTo>
                <a:close/>
                <a:moveTo>
                  <a:pt x="83344" y="76200"/>
                </a:moveTo>
                <a:lnTo>
                  <a:pt x="70485" y="59055"/>
                </a:lnTo>
                <a:cubicBezTo>
                  <a:pt x="65097" y="51852"/>
                  <a:pt x="56614" y="47625"/>
                  <a:pt x="47625" y="47625"/>
                </a:cubicBezTo>
                <a:cubicBezTo>
                  <a:pt x="31849" y="47625"/>
                  <a:pt x="19050" y="60424"/>
                  <a:pt x="19050" y="76200"/>
                </a:cubicBezTo>
                <a:cubicBezTo>
                  <a:pt x="19050" y="91976"/>
                  <a:pt x="31849" y="104775"/>
                  <a:pt x="47625" y="104775"/>
                </a:cubicBezTo>
                <a:cubicBezTo>
                  <a:pt x="56614" y="104775"/>
                  <a:pt x="65097" y="100548"/>
                  <a:pt x="70485" y="93345"/>
                </a:cubicBezTo>
                <a:lnTo>
                  <a:pt x="83344" y="76200"/>
                </a:lnTo>
                <a:close/>
                <a:moveTo>
                  <a:pt x="107156" y="76200"/>
                </a:moveTo>
                <a:lnTo>
                  <a:pt x="120015" y="93345"/>
                </a:lnTo>
                <a:cubicBezTo>
                  <a:pt x="125403" y="100548"/>
                  <a:pt x="133886" y="104775"/>
                  <a:pt x="142875" y="104775"/>
                </a:cubicBezTo>
                <a:cubicBezTo>
                  <a:pt x="158651" y="104775"/>
                  <a:pt x="171450" y="91976"/>
                  <a:pt x="171450" y="76200"/>
                </a:cubicBezTo>
                <a:cubicBezTo>
                  <a:pt x="171450" y="60424"/>
                  <a:pt x="158651" y="47625"/>
                  <a:pt x="142875" y="47625"/>
                </a:cubicBezTo>
                <a:cubicBezTo>
                  <a:pt x="133886" y="47625"/>
                  <a:pt x="125403" y="51852"/>
                  <a:pt x="120015" y="59055"/>
                </a:cubicBezTo>
                <a:lnTo>
                  <a:pt x="107156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1187450" y="1949453"/>
            <a:ext cx="2238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Monitoramento Contínuo</a:t>
            </a:r>
            <a:endParaRPr sz="1600" b="0" i="0" u="none" strike="noStrike" cap="none"/>
          </a:p>
        </p:txBody>
      </p:sp>
      <p:sp>
        <p:nvSpPr>
          <p:cNvPr id="418" name="Google Shape;418;p15"/>
          <p:cNvSpPr/>
          <p:nvPr/>
        </p:nvSpPr>
        <p:spPr>
          <a:xfrm>
            <a:off x="1187450" y="2139953"/>
            <a:ext cx="22288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Coleta automática sem intervenção humana</a:t>
            </a:r>
            <a:endParaRPr sz="1600" b="0" i="0" u="none" strike="noStrike" cap="none"/>
          </a:p>
        </p:txBody>
      </p:sp>
      <p:sp>
        <p:nvSpPr>
          <p:cNvPr id="419" name="Google Shape;419;p15"/>
          <p:cNvSpPr/>
          <p:nvPr/>
        </p:nvSpPr>
        <p:spPr>
          <a:xfrm>
            <a:off x="577850" y="2559053"/>
            <a:ext cx="5229225" cy="609600"/>
          </a:xfrm>
          <a:custGeom>
            <a:avLst/>
            <a:gdLst/>
            <a:ahLst/>
            <a:cxnLst/>
            <a:rect l="l" t="t" r="r" b="b"/>
            <a:pathLst>
              <a:path w="5229225" h="609600" extrusionOk="0">
                <a:moveTo>
                  <a:pt x="76200" y="0"/>
                </a:moveTo>
                <a:lnTo>
                  <a:pt x="5153025" y="0"/>
                </a:lnTo>
                <a:cubicBezTo>
                  <a:pt x="5195081" y="0"/>
                  <a:pt x="5229225" y="34144"/>
                  <a:pt x="5229225" y="76200"/>
                </a:cubicBezTo>
                <a:lnTo>
                  <a:pt x="5229225" y="533400"/>
                </a:lnTo>
                <a:cubicBezTo>
                  <a:pt x="5229225" y="575456"/>
                  <a:pt x="5195081" y="609600"/>
                  <a:pt x="51530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692150" y="26733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extrusionOk="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787400" y="278765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 extrusionOk="0">
                <a:moveTo>
                  <a:pt x="40600" y="38100"/>
                </a:moveTo>
                <a:cubicBezTo>
                  <a:pt x="40600" y="25339"/>
                  <a:pt x="47408" y="13547"/>
                  <a:pt x="58460" y="7167"/>
                </a:cubicBezTo>
                <a:cubicBezTo>
                  <a:pt x="69511" y="786"/>
                  <a:pt x="83127" y="786"/>
                  <a:pt x="94178" y="7167"/>
                </a:cubicBezTo>
                <a:cubicBezTo>
                  <a:pt x="105230" y="13547"/>
                  <a:pt x="112038" y="25339"/>
                  <a:pt x="112038" y="38100"/>
                </a:cubicBezTo>
                <a:cubicBezTo>
                  <a:pt x="112038" y="57814"/>
                  <a:pt x="96033" y="73819"/>
                  <a:pt x="76319" y="73819"/>
                </a:cubicBezTo>
                <a:cubicBezTo>
                  <a:pt x="56605" y="73819"/>
                  <a:pt x="40600" y="57814"/>
                  <a:pt x="40600" y="38100"/>
                </a:cubicBezTo>
                <a:close/>
                <a:moveTo>
                  <a:pt x="14407" y="143560"/>
                </a:moveTo>
                <a:cubicBezTo>
                  <a:pt x="14407" y="114240"/>
                  <a:pt x="38160" y="90488"/>
                  <a:pt x="67479" y="90488"/>
                </a:cubicBezTo>
                <a:lnTo>
                  <a:pt x="85159" y="90488"/>
                </a:lnTo>
                <a:cubicBezTo>
                  <a:pt x="114479" y="90488"/>
                  <a:pt x="138232" y="114240"/>
                  <a:pt x="138232" y="143560"/>
                </a:cubicBezTo>
                <a:cubicBezTo>
                  <a:pt x="138232" y="148441"/>
                  <a:pt x="134273" y="152400"/>
                  <a:pt x="129391" y="152400"/>
                </a:cubicBezTo>
                <a:lnTo>
                  <a:pt x="23247" y="152400"/>
                </a:lnTo>
                <a:cubicBezTo>
                  <a:pt x="18365" y="152400"/>
                  <a:pt x="14407" y="148441"/>
                  <a:pt x="14407" y="143560"/>
                </a:cubicBezTo>
                <a:close/>
                <a:moveTo>
                  <a:pt x="182255" y="36939"/>
                </a:moveTo>
                <a:cubicBezTo>
                  <a:pt x="185053" y="39737"/>
                  <a:pt x="185053" y="44261"/>
                  <a:pt x="182255" y="47030"/>
                </a:cubicBezTo>
                <a:lnTo>
                  <a:pt x="172164" y="57120"/>
                </a:lnTo>
                <a:lnTo>
                  <a:pt x="182255" y="67211"/>
                </a:lnTo>
                <a:cubicBezTo>
                  <a:pt x="185053" y="70009"/>
                  <a:pt x="185053" y="74533"/>
                  <a:pt x="182255" y="77301"/>
                </a:cubicBezTo>
                <a:cubicBezTo>
                  <a:pt x="179457" y="80070"/>
                  <a:pt x="174933" y="80099"/>
                  <a:pt x="172164" y="77301"/>
                </a:cubicBezTo>
                <a:lnTo>
                  <a:pt x="162074" y="67211"/>
                </a:lnTo>
                <a:lnTo>
                  <a:pt x="151983" y="77301"/>
                </a:lnTo>
                <a:cubicBezTo>
                  <a:pt x="149185" y="80099"/>
                  <a:pt x="144661" y="80099"/>
                  <a:pt x="141893" y="77301"/>
                </a:cubicBezTo>
                <a:cubicBezTo>
                  <a:pt x="139125" y="74503"/>
                  <a:pt x="139095" y="69979"/>
                  <a:pt x="141893" y="67211"/>
                </a:cubicBezTo>
                <a:lnTo>
                  <a:pt x="151983" y="57120"/>
                </a:lnTo>
                <a:lnTo>
                  <a:pt x="141893" y="47030"/>
                </a:lnTo>
                <a:cubicBezTo>
                  <a:pt x="139095" y="44232"/>
                  <a:pt x="139095" y="39707"/>
                  <a:pt x="141893" y="36939"/>
                </a:cubicBezTo>
                <a:cubicBezTo>
                  <a:pt x="144691" y="34171"/>
                  <a:pt x="149215" y="34141"/>
                  <a:pt x="151983" y="36939"/>
                </a:cubicBezTo>
                <a:lnTo>
                  <a:pt x="162074" y="47030"/>
                </a:lnTo>
                <a:lnTo>
                  <a:pt x="172164" y="36939"/>
                </a:lnTo>
                <a:cubicBezTo>
                  <a:pt x="174962" y="34141"/>
                  <a:pt x="179487" y="34141"/>
                  <a:pt x="182255" y="369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1187450" y="2673353"/>
            <a:ext cx="2038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Eliminação de Tarefas Manuais</a:t>
            </a:r>
            <a:endParaRPr sz="1600" b="0" i="0" u="none" strike="noStrike" cap="none"/>
          </a:p>
        </p:txBody>
      </p:sp>
      <p:sp>
        <p:nvSpPr>
          <p:cNvPr id="423" name="Google Shape;423;p15"/>
          <p:cNvSpPr/>
          <p:nvPr/>
        </p:nvSpPr>
        <p:spPr>
          <a:xfrm>
            <a:off x="1187450" y="2863853"/>
            <a:ext cx="20288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Redução de erros e economia de tempo</a:t>
            </a:r>
            <a:endParaRPr sz="1600" b="0" i="0" u="none" strike="noStrike" cap="none"/>
          </a:p>
        </p:txBody>
      </p:sp>
      <p:sp>
        <p:nvSpPr>
          <p:cNvPr id="424" name="Google Shape;424;p15"/>
          <p:cNvSpPr/>
          <p:nvPr/>
        </p:nvSpPr>
        <p:spPr>
          <a:xfrm>
            <a:off x="577850" y="3282953"/>
            <a:ext cx="5229225" cy="609600"/>
          </a:xfrm>
          <a:custGeom>
            <a:avLst/>
            <a:gdLst/>
            <a:ahLst/>
            <a:cxnLst/>
            <a:rect l="l" t="t" r="r" b="b"/>
            <a:pathLst>
              <a:path w="5229225" h="609600" extrusionOk="0">
                <a:moveTo>
                  <a:pt x="76200" y="0"/>
                </a:moveTo>
                <a:lnTo>
                  <a:pt x="5153025" y="0"/>
                </a:lnTo>
                <a:cubicBezTo>
                  <a:pt x="5195081" y="0"/>
                  <a:pt x="5229225" y="34144"/>
                  <a:pt x="5229225" y="76200"/>
                </a:cubicBezTo>
                <a:lnTo>
                  <a:pt x="5229225" y="533400"/>
                </a:lnTo>
                <a:cubicBezTo>
                  <a:pt x="5229225" y="575456"/>
                  <a:pt x="5195081" y="609600"/>
                  <a:pt x="51530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692150" y="33972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extrusionOk="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796925" y="351155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extrusionOk="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1187450" y="3397253"/>
            <a:ext cx="1924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Histórico Automático</a:t>
            </a:r>
            <a:endParaRPr sz="1600" b="0" i="0" u="none" strike="noStrike" cap="none"/>
          </a:p>
        </p:txBody>
      </p:sp>
      <p:sp>
        <p:nvSpPr>
          <p:cNvPr id="428" name="Google Shape;428;p15"/>
          <p:cNvSpPr/>
          <p:nvPr/>
        </p:nvSpPr>
        <p:spPr>
          <a:xfrm>
            <a:off x="1187450" y="3587753"/>
            <a:ext cx="19145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 de dados completa e organizada</a:t>
            </a:r>
            <a:endParaRPr sz="1600" b="0" i="0" u="none" strike="noStrike" cap="none"/>
          </a:p>
        </p:txBody>
      </p:sp>
      <p:sp>
        <p:nvSpPr>
          <p:cNvPr id="429" name="Google Shape;429;p15"/>
          <p:cNvSpPr/>
          <p:nvPr/>
        </p:nvSpPr>
        <p:spPr>
          <a:xfrm>
            <a:off x="577850" y="4006853"/>
            <a:ext cx="5229225" cy="609600"/>
          </a:xfrm>
          <a:custGeom>
            <a:avLst/>
            <a:gdLst/>
            <a:ahLst/>
            <a:cxnLst/>
            <a:rect l="l" t="t" r="r" b="b"/>
            <a:pathLst>
              <a:path w="5229225" h="609600" extrusionOk="0">
                <a:moveTo>
                  <a:pt x="76200" y="0"/>
                </a:moveTo>
                <a:lnTo>
                  <a:pt x="5153025" y="0"/>
                </a:lnTo>
                <a:cubicBezTo>
                  <a:pt x="5195081" y="0"/>
                  <a:pt x="5229225" y="34144"/>
                  <a:pt x="5229225" y="76200"/>
                </a:cubicBezTo>
                <a:lnTo>
                  <a:pt x="5229225" y="533400"/>
                </a:lnTo>
                <a:cubicBezTo>
                  <a:pt x="5229225" y="575456"/>
                  <a:pt x="5195081" y="609600"/>
                  <a:pt x="51530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692150" y="41211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extrusionOk="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810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806450" y="42354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1187450" y="4121153"/>
            <a:ext cx="21050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Análise de Tendências</a:t>
            </a:r>
            <a:endParaRPr sz="1600" b="0" i="0" u="none" strike="noStrike" cap="none"/>
          </a:p>
        </p:txBody>
      </p:sp>
      <p:sp>
        <p:nvSpPr>
          <p:cNvPr id="433" name="Google Shape;433;p15"/>
          <p:cNvSpPr/>
          <p:nvPr/>
        </p:nvSpPr>
        <p:spPr>
          <a:xfrm>
            <a:off x="1187450" y="4311653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Dados históricos para insights financeiros</a:t>
            </a:r>
            <a:endParaRPr sz="1600" b="0" i="0" u="none" strike="noStrike" cap="none"/>
          </a:p>
        </p:txBody>
      </p:sp>
      <p:sp>
        <p:nvSpPr>
          <p:cNvPr id="434" name="Google Shape;434;p15"/>
          <p:cNvSpPr/>
          <p:nvPr/>
        </p:nvSpPr>
        <p:spPr>
          <a:xfrm>
            <a:off x="6194425" y="1222375"/>
            <a:ext cx="5616575" cy="3778250"/>
          </a:xfrm>
          <a:custGeom>
            <a:avLst/>
            <a:gdLst/>
            <a:ahLst/>
            <a:cxnLst/>
            <a:rect l="l" t="t" r="r" b="b"/>
            <a:pathLst>
              <a:path w="5616575" h="3778250" extrusionOk="0">
                <a:moveTo>
                  <a:pt x="114292" y="0"/>
                </a:moveTo>
                <a:lnTo>
                  <a:pt x="5502283" y="0"/>
                </a:lnTo>
                <a:cubicBezTo>
                  <a:pt x="5565405" y="0"/>
                  <a:pt x="5616575" y="51170"/>
                  <a:pt x="5616575" y="114292"/>
                </a:cubicBezTo>
                <a:lnTo>
                  <a:pt x="5616575" y="3663958"/>
                </a:lnTo>
                <a:cubicBezTo>
                  <a:pt x="5616575" y="3727080"/>
                  <a:pt x="5565405" y="3778250"/>
                  <a:pt x="5502283" y="3778250"/>
                </a:cubicBezTo>
                <a:lnTo>
                  <a:pt x="114292" y="3778250"/>
                </a:lnTo>
                <a:cubicBezTo>
                  <a:pt x="51170" y="3778250"/>
                  <a:pt x="0" y="3727080"/>
                  <a:pt x="0" y="366395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2D2D2D"/>
          </a:solidFill>
          <a:ln w="9525" cap="flat" cmpd="sng">
            <a:solidFill>
              <a:srgbClr val="6A6A6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6411913" y="14541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6626225" y="1416053"/>
            <a:ext cx="5086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Possíveis Melhorias</a:t>
            </a:r>
            <a:endParaRPr sz="1600" b="0" i="0" u="none" strike="noStrike" cap="none"/>
          </a:p>
        </p:txBody>
      </p:sp>
      <p:sp>
        <p:nvSpPr>
          <p:cNvPr id="437" name="Google Shape;437;p15"/>
          <p:cNvSpPr/>
          <p:nvPr/>
        </p:nvSpPr>
        <p:spPr>
          <a:xfrm>
            <a:off x="6407150" y="1835153"/>
            <a:ext cx="5210175" cy="571500"/>
          </a:xfrm>
          <a:custGeom>
            <a:avLst/>
            <a:gdLst/>
            <a:ahLst/>
            <a:cxnLst/>
            <a:rect l="l" t="t" r="r" b="b"/>
            <a:pathLst>
              <a:path w="5210175" h="571500" extrusionOk="0">
                <a:moveTo>
                  <a:pt x="38100" y="0"/>
                </a:moveTo>
                <a:lnTo>
                  <a:pt x="5133977" y="0"/>
                </a:lnTo>
                <a:cubicBezTo>
                  <a:pt x="5176060" y="0"/>
                  <a:pt x="5210175" y="34115"/>
                  <a:pt x="5210175" y="76198"/>
                </a:cubicBezTo>
                <a:lnTo>
                  <a:pt x="5210175" y="495302"/>
                </a:lnTo>
                <a:cubicBezTo>
                  <a:pt x="5210175" y="537385"/>
                  <a:pt x="5176060" y="571500"/>
                  <a:pt x="5133977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6407150" y="1835153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 extrusionOk="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B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6559550" y="19875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F0B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6845300" y="1949453"/>
            <a:ext cx="27336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Gráficos Automáticos</a:t>
            </a:r>
            <a:endParaRPr sz="1600" b="0" i="0" u="none" strike="noStrike" cap="none"/>
          </a:p>
        </p:txBody>
      </p:sp>
      <p:sp>
        <p:nvSpPr>
          <p:cNvPr id="441" name="Google Shape;441;p15"/>
          <p:cNvSpPr/>
          <p:nvPr/>
        </p:nvSpPr>
        <p:spPr>
          <a:xfrm>
            <a:off x="6845300" y="2139953"/>
            <a:ext cx="27241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Geração automática de gráficos de tendência no Excel</a:t>
            </a:r>
            <a:endParaRPr sz="1600" b="0" i="0" u="none" strike="noStrike" cap="none"/>
          </a:p>
        </p:txBody>
      </p:sp>
      <p:sp>
        <p:nvSpPr>
          <p:cNvPr id="442" name="Google Shape;442;p15"/>
          <p:cNvSpPr/>
          <p:nvPr/>
        </p:nvSpPr>
        <p:spPr>
          <a:xfrm>
            <a:off x="6407150" y="2520953"/>
            <a:ext cx="5210175" cy="571500"/>
          </a:xfrm>
          <a:custGeom>
            <a:avLst/>
            <a:gdLst/>
            <a:ahLst/>
            <a:cxnLst/>
            <a:rect l="l" t="t" r="r" b="b"/>
            <a:pathLst>
              <a:path w="5210175" h="571500" extrusionOk="0">
                <a:moveTo>
                  <a:pt x="38100" y="0"/>
                </a:moveTo>
                <a:lnTo>
                  <a:pt x="5133977" y="0"/>
                </a:lnTo>
                <a:cubicBezTo>
                  <a:pt x="5176060" y="0"/>
                  <a:pt x="5210175" y="34115"/>
                  <a:pt x="5210175" y="76198"/>
                </a:cubicBezTo>
                <a:lnTo>
                  <a:pt x="5210175" y="495302"/>
                </a:lnTo>
                <a:cubicBezTo>
                  <a:pt x="5210175" y="537385"/>
                  <a:pt x="5176060" y="571500"/>
                  <a:pt x="5133977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6407150" y="2520953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 extrusionOk="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6559550" y="26733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6845300" y="2635253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 Visual</a:t>
            </a:r>
            <a:endParaRPr sz="1600" b="0" i="0" u="none" strike="noStrike" cap="none"/>
          </a:p>
        </p:txBody>
      </p:sp>
      <p:sp>
        <p:nvSpPr>
          <p:cNvPr id="446" name="Google Shape;446;p15"/>
          <p:cNvSpPr/>
          <p:nvPr/>
        </p:nvSpPr>
        <p:spPr>
          <a:xfrm>
            <a:off x="6845300" y="2825753"/>
            <a:ext cx="2352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Interface web para visualização em tempo real</a:t>
            </a:r>
            <a:endParaRPr sz="1600" b="0" i="0" u="none" strike="noStrike" cap="none"/>
          </a:p>
        </p:txBody>
      </p:sp>
      <p:sp>
        <p:nvSpPr>
          <p:cNvPr id="447" name="Google Shape;447;p15"/>
          <p:cNvSpPr/>
          <p:nvPr/>
        </p:nvSpPr>
        <p:spPr>
          <a:xfrm>
            <a:off x="6407150" y="3206753"/>
            <a:ext cx="5210175" cy="571500"/>
          </a:xfrm>
          <a:custGeom>
            <a:avLst/>
            <a:gdLst/>
            <a:ahLst/>
            <a:cxnLst/>
            <a:rect l="l" t="t" r="r" b="b"/>
            <a:pathLst>
              <a:path w="5210175" h="571500" extrusionOk="0">
                <a:moveTo>
                  <a:pt x="38100" y="0"/>
                </a:moveTo>
                <a:lnTo>
                  <a:pt x="5133977" y="0"/>
                </a:lnTo>
                <a:cubicBezTo>
                  <a:pt x="5176060" y="0"/>
                  <a:pt x="5210175" y="34115"/>
                  <a:pt x="5210175" y="76198"/>
                </a:cubicBezTo>
                <a:lnTo>
                  <a:pt x="5210175" y="495302"/>
                </a:lnTo>
                <a:cubicBezTo>
                  <a:pt x="5210175" y="537385"/>
                  <a:pt x="5176060" y="571500"/>
                  <a:pt x="5133977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6407150" y="3206753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 extrusionOk="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6559550" y="33591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extrusionOk="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6845300" y="3321053"/>
            <a:ext cx="2590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Alertas por E-mail</a:t>
            </a:r>
            <a:endParaRPr sz="1600" b="0" i="0" u="none" strike="noStrike" cap="none"/>
          </a:p>
        </p:txBody>
      </p:sp>
      <p:sp>
        <p:nvSpPr>
          <p:cNvPr id="451" name="Google Shape;451;p15"/>
          <p:cNvSpPr/>
          <p:nvPr/>
        </p:nvSpPr>
        <p:spPr>
          <a:xfrm>
            <a:off x="6845300" y="3511553"/>
            <a:ext cx="25812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Notificações quando cotações atingirem thresholds</a:t>
            </a:r>
            <a:endParaRPr sz="1600" b="0" i="0" u="none" strike="noStrike" cap="none"/>
          </a:p>
        </p:txBody>
      </p:sp>
      <p:sp>
        <p:nvSpPr>
          <p:cNvPr id="452" name="Google Shape;452;p15"/>
          <p:cNvSpPr/>
          <p:nvPr/>
        </p:nvSpPr>
        <p:spPr>
          <a:xfrm>
            <a:off x="6407150" y="3892553"/>
            <a:ext cx="5210175" cy="571500"/>
          </a:xfrm>
          <a:custGeom>
            <a:avLst/>
            <a:gdLst/>
            <a:ahLst/>
            <a:cxnLst/>
            <a:rect l="l" t="t" r="r" b="b"/>
            <a:pathLst>
              <a:path w="5210175" h="571500" extrusionOk="0">
                <a:moveTo>
                  <a:pt x="38100" y="0"/>
                </a:moveTo>
                <a:lnTo>
                  <a:pt x="5133977" y="0"/>
                </a:lnTo>
                <a:cubicBezTo>
                  <a:pt x="5176060" y="0"/>
                  <a:pt x="5210175" y="34115"/>
                  <a:pt x="5210175" y="76198"/>
                </a:cubicBezTo>
                <a:lnTo>
                  <a:pt x="5210175" y="495302"/>
                </a:lnTo>
                <a:cubicBezTo>
                  <a:pt x="5210175" y="537385"/>
                  <a:pt x="5176060" y="571500"/>
                  <a:pt x="5133977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6407150" y="3892553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 extrusionOk="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6569075" y="40449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 extrusionOk="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5"/>
          <p:cNvSpPr/>
          <p:nvPr/>
        </p:nvSpPr>
        <p:spPr>
          <a:xfrm>
            <a:off x="6845300" y="4006853"/>
            <a:ext cx="1914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Banco de Dados SQL</a:t>
            </a:r>
            <a:endParaRPr sz="1600" b="0" i="0" u="none" strike="noStrike" cap="none"/>
          </a:p>
        </p:txBody>
      </p:sp>
      <p:sp>
        <p:nvSpPr>
          <p:cNvPr id="456" name="Google Shape;456;p15"/>
          <p:cNvSpPr/>
          <p:nvPr/>
        </p:nvSpPr>
        <p:spPr>
          <a:xfrm>
            <a:off x="6845300" y="4197353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Migração para PostgreSQL ou MySQL</a:t>
            </a:r>
            <a:endParaRPr sz="1600" b="0" i="0" u="none" strike="noStrike" cap="none"/>
          </a:p>
        </p:txBody>
      </p:sp>
      <p:sp>
        <p:nvSpPr>
          <p:cNvPr id="457" name="Google Shape;457;p15"/>
          <p:cNvSpPr/>
          <p:nvPr/>
        </p:nvSpPr>
        <p:spPr>
          <a:xfrm>
            <a:off x="384175" y="5119691"/>
            <a:ext cx="11426825" cy="1054100"/>
          </a:xfrm>
          <a:custGeom>
            <a:avLst/>
            <a:gdLst/>
            <a:ahLst/>
            <a:cxnLst/>
            <a:rect l="l" t="t" r="r" b="b"/>
            <a:pathLst>
              <a:path w="11426825" h="1054100" extrusionOk="0">
                <a:moveTo>
                  <a:pt x="114296" y="0"/>
                </a:moveTo>
                <a:lnTo>
                  <a:pt x="11312529" y="0"/>
                </a:lnTo>
                <a:cubicBezTo>
                  <a:pt x="11375653" y="0"/>
                  <a:pt x="11426825" y="51172"/>
                  <a:pt x="11426825" y="114296"/>
                </a:cubicBezTo>
                <a:lnTo>
                  <a:pt x="11426825" y="939804"/>
                </a:lnTo>
                <a:cubicBezTo>
                  <a:pt x="11426825" y="1002928"/>
                  <a:pt x="11375653" y="1054100"/>
                  <a:pt x="11312529" y="1054100"/>
                </a:cubicBezTo>
                <a:lnTo>
                  <a:pt x="114296" y="1054100"/>
                </a:lnTo>
                <a:cubicBezTo>
                  <a:pt x="51172" y="1054100"/>
                  <a:pt x="0" y="1002928"/>
                  <a:pt x="0" y="9398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>
            <a:gsLst>
              <a:gs pos="0">
                <a:srgbClr val="A50034">
                  <a:alpha val="30196"/>
                </a:srgbClr>
              </a:gs>
              <a:gs pos="100000">
                <a:srgbClr val="A50034">
                  <a:alpha val="10196"/>
                </a:srgbClr>
              </a:gs>
            </a:gsLst>
            <a:lin ang="0" scaled="0"/>
          </a:gradFill>
          <a:ln w="9525" cap="flat" cmpd="sng">
            <a:solidFill>
              <a:srgbClr val="A50034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539750" y="537766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extrusionOk="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5"/>
          <p:cNvSpPr/>
          <p:nvPr/>
        </p:nvSpPr>
        <p:spPr>
          <a:xfrm>
            <a:off x="720725" y="553006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 extrusionOk="0">
                <a:moveTo>
                  <a:pt x="111576" y="29825"/>
                </a:moveTo>
                <a:cubicBezTo>
                  <a:pt x="116220" y="23440"/>
                  <a:pt x="114791" y="14511"/>
                  <a:pt x="108406" y="9867"/>
                </a:cubicBezTo>
                <a:cubicBezTo>
                  <a:pt x="102022" y="5224"/>
                  <a:pt x="93092" y="6653"/>
                  <a:pt x="88449" y="13037"/>
                </a:cubicBezTo>
                <a:lnTo>
                  <a:pt x="41121" y="78090"/>
                </a:lnTo>
                <a:lnTo>
                  <a:pt x="24378" y="61347"/>
                </a:lnTo>
                <a:cubicBezTo>
                  <a:pt x="18797" y="55766"/>
                  <a:pt x="9733" y="55766"/>
                  <a:pt x="4152" y="61347"/>
                </a:cubicBezTo>
                <a:cubicBezTo>
                  <a:pt x="-1429" y="66928"/>
                  <a:pt x="-1429" y="75992"/>
                  <a:pt x="4152" y="81573"/>
                </a:cubicBezTo>
                <a:lnTo>
                  <a:pt x="32727" y="110148"/>
                </a:lnTo>
                <a:cubicBezTo>
                  <a:pt x="35674" y="113094"/>
                  <a:pt x="39782" y="114613"/>
                  <a:pt x="43934" y="114300"/>
                </a:cubicBezTo>
                <a:cubicBezTo>
                  <a:pt x="48086" y="113987"/>
                  <a:pt x="51926" y="111844"/>
                  <a:pt x="54382" y="108451"/>
                </a:cubicBezTo>
                <a:lnTo>
                  <a:pt x="111532" y="29870"/>
                </a:lnTo>
                <a:close/>
                <a:moveTo>
                  <a:pt x="168726" y="90547"/>
                </a:moveTo>
                <a:cubicBezTo>
                  <a:pt x="173370" y="84162"/>
                  <a:pt x="171941" y="75233"/>
                  <a:pt x="165556" y="70589"/>
                </a:cubicBezTo>
                <a:cubicBezTo>
                  <a:pt x="159172" y="65946"/>
                  <a:pt x="150242" y="67374"/>
                  <a:pt x="145599" y="73759"/>
                </a:cubicBezTo>
                <a:lnTo>
                  <a:pt x="69696" y="178103"/>
                </a:lnTo>
                <a:lnTo>
                  <a:pt x="38666" y="147072"/>
                </a:lnTo>
                <a:cubicBezTo>
                  <a:pt x="33084" y="141491"/>
                  <a:pt x="24021" y="141491"/>
                  <a:pt x="18440" y="147072"/>
                </a:cubicBezTo>
                <a:cubicBezTo>
                  <a:pt x="12859" y="152653"/>
                  <a:pt x="12859" y="161717"/>
                  <a:pt x="18440" y="167298"/>
                </a:cubicBezTo>
                <a:lnTo>
                  <a:pt x="61302" y="210160"/>
                </a:lnTo>
                <a:cubicBezTo>
                  <a:pt x="64249" y="213107"/>
                  <a:pt x="68357" y="214625"/>
                  <a:pt x="72509" y="214313"/>
                </a:cubicBezTo>
                <a:cubicBezTo>
                  <a:pt x="76661" y="214000"/>
                  <a:pt x="80501" y="211857"/>
                  <a:pt x="82957" y="208464"/>
                </a:cubicBezTo>
                <a:lnTo>
                  <a:pt x="168682" y="905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1225550" y="5275269"/>
            <a:ext cx="10515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Conclusão</a:t>
            </a:r>
            <a:endParaRPr sz="1600" b="0" i="0" u="none" strike="noStrike" cap="none"/>
          </a:p>
        </p:txBody>
      </p:sp>
      <p:sp>
        <p:nvSpPr>
          <p:cNvPr id="461" name="Google Shape;461;p15"/>
          <p:cNvSpPr/>
          <p:nvPr/>
        </p:nvSpPr>
        <p:spPr>
          <a:xfrm>
            <a:off x="1225550" y="5580069"/>
            <a:ext cx="104965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Este projeto demonstra a </a:t>
            </a:r>
            <a:r>
              <a:rPr lang="en-US" sz="1050" b="1" i="0" u="none" strike="noStrike" cap="none">
                <a:solidFill>
                  <a:srgbClr val="A5003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aplicação prática de RPA com Python</a:t>
            </a:r>
            <a:r>
              <a:rPr lang="en-US" sz="1050" b="0" i="0" u="none" strike="noStrike" cap="none">
                <a:solidFill>
                  <a:srgbClr val="E0E0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integrando coleta de dados financeiros via API, persistência em Excel e automação via Task Scheduler. Uma solução robusta e escalável para monitoramento de cotações.</a:t>
            </a:r>
            <a:endParaRPr sz="1600" b="0" i="0" u="none" strike="noStrike" cap="none"/>
          </a:p>
        </p:txBody>
      </p:sp>
      <p:sp>
        <p:nvSpPr>
          <p:cNvPr id="462" name="Google Shape;462;p15"/>
          <p:cNvSpPr/>
          <p:nvPr/>
        </p:nvSpPr>
        <p:spPr>
          <a:xfrm>
            <a:off x="383381" y="63150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 extrusionOk="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623888" y="6286500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Projeto RPA – Monitoramento de Cotações</a:t>
            </a:r>
            <a:endParaRPr sz="1600" b="0" i="0" u="none" strike="noStrike" cap="none"/>
          </a:p>
        </p:txBody>
      </p:sp>
      <p:sp>
        <p:nvSpPr>
          <p:cNvPr id="464" name="Google Shape;464;p15"/>
          <p:cNvSpPr/>
          <p:nvPr/>
        </p:nvSpPr>
        <p:spPr>
          <a:xfrm>
            <a:off x="11291193" y="6286500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6A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12/12</a:t>
            </a:r>
            <a:endParaRPr sz="1600" b="0" i="0" u="none" strike="noStrike" cap="none"/>
          </a:p>
        </p:txBody>
      </p:sp>
      <p:sp>
        <p:nvSpPr>
          <p:cNvPr id="465" name="Google Shape;465;p15"/>
          <p:cNvSpPr/>
          <p:nvPr/>
        </p:nvSpPr>
        <p:spPr>
          <a:xfrm>
            <a:off x="11680031" y="63150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 extrusionOk="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A500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457;p15"/>
          <p:cNvSpPr/>
          <p:nvPr/>
        </p:nvSpPr>
        <p:spPr>
          <a:xfrm rot="10800000" flipV="1">
            <a:off x="3587017" y="6286998"/>
            <a:ext cx="4630615" cy="292093"/>
          </a:xfrm>
          <a:custGeom>
            <a:avLst/>
            <a:gdLst/>
            <a:ahLst/>
            <a:cxnLst/>
            <a:rect l="l" t="t" r="r" b="b"/>
            <a:pathLst>
              <a:path w="11426825" h="1054100" extrusionOk="0">
                <a:moveTo>
                  <a:pt x="114296" y="0"/>
                </a:moveTo>
                <a:lnTo>
                  <a:pt x="11312529" y="0"/>
                </a:lnTo>
                <a:cubicBezTo>
                  <a:pt x="11375653" y="0"/>
                  <a:pt x="11426825" y="51172"/>
                  <a:pt x="11426825" y="114296"/>
                </a:cubicBezTo>
                <a:lnTo>
                  <a:pt x="11426825" y="939804"/>
                </a:lnTo>
                <a:cubicBezTo>
                  <a:pt x="11426825" y="1002928"/>
                  <a:pt x="11375653" y="1054100"/>
                  <a:pt x="11312529" y="1054100"/>
                </a:cubicBezTo>
                <a:lnTo>
                  <a:pt x="114296" y="1054100"/>
                </a:lnTo>
                <a:cubicBezTo>
                  <a:pt x="51172" y="1054100"/>
                  <a:pt x="0" y="1002928"/>
                  <a:pt x="0" y="9398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>
            <a:gsLst>
              <a:gs pos="0">
                <a:srgbClr val="A50034">
                  <a:alpha val="30196"/>
                </a:srgbClr>
              </a:gs>
              <a:gs pos="100000">
                <a:srgbClr val="A50034">
                  <a:alpha val="10196"/>
                </a:srgbClr>
              </a:gs>
            </a:gsLst>
            <a:lin ang="0" scaled="0"/>
          </a:gradFill>
          <a:ln w="9525" cap="flat" cmpd="sng">
            <a:solidFill>
              <a:srgbClr val="A50034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b="1" dirty="0">
                <a:solidFill>
                  <a:schemeClr val="bg1"/>
                </a:solidFill>
              </a:rPr>
              <a:t>https://github.com/josetads/cotacao-dolar-rpa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</Words>
  <Application>Microsoft Office PowerPoint</Application>
  <PresentationFormat>Widescreen</PresentationFormat>
  <Paragraphs>245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Microsoft Yahei</vt:lpstr>
      <vt:lpstr>Arial</vt:lpstr>
      <vt:lpstr>Hedvig Letters Sans</vt:lpstr>
      <vt:lpstr>Quattrocento Sans</vt:lpstr>
      <vt:lpstr>Calibri</vt:lpstr>
      <vt:lpstr>Liter</vt:lpstr>
      <vt:lpstr>Custom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Tarde</dc:creator>
  <cp:lastModifiedBy>Tarde</cp:lastModifiedBy>
  <cp:revision>1</cp:revision>
  <dcterms:modified xsi:type="dcterms:W3CDTF">2026-04-07T21:45:55Z</dcterms:modified>
</cp:coreProperties>
</file>